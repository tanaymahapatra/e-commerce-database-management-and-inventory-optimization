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9144000" cy="5143500"/>
  <p:notesSz cx="5143500" cy="9144000"/>
  <p:extLst>
    <p:ext uri="{521415D9-36F7-43E2-AB2F-B90AF26B5E84}">
      <p14:sectionLst xmlns:p14="http://schemas.microsoft.com/office/powerpoint/2010/main">
        <p14:section name="Introduction" id="{6893DCD3-86C1-F778-EF7F-54D103164163}">
          <p14:sldIdLst>
            <p14:sldId id="256"/>
          </p14:sldIdLst>
        </p14:section>
        <p14:section name="Objective" id="{AFBB18FB-7CA8-DC83-B2BF-3A2036DE080E}">
          <p14:sldIdLst>
            <p14:sldId id="257"/>
          </p14:sldIdLst>
        </p14:section>
        <p14:section name="Design" id="{C9F354B7-E167-55B0-369E-E141DC47A2DD}">
          <p14:sldIdLst>
            <p14:sldId id="258"/>
            <p14:sldId id="259"/>
          </p14:sldIdLst>
        </p14:section>
        <p14:section name="Technology" id="{BBB4633A-1DEB-DD7A-DDEE-957988A04E10}">
          <p14:sldIdLst>
            <p14:sldId id="260"/>
          </p14:sldIdLst>
        </p14:section>
        <p14:section name="Demo" id="{FB653D70-900E-C21A-F1FA-709EF551D07E}">
          <p14:sldIdLst>
            <p14:sldId id="261"/>
          </p14:sldIdLst>
        </p14:section>
        <p14:section name="Wrap-up" id="{ABBA046F-FB0D-0B60-6898-1CEB065C62AB}">
          <p14:sldIdLst>
            <p14:sldId id="262"/>
          </p14:sldIdLst>
        </p14:section>
      </p14:sectionLst>
    </p:ext>
  </p:ex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IN" sz="1800" b="0" u="none" strike="noStrike">
                <a:solidFill>
                  <a:schemeClr val="dk1"/>
                </a:solidFill>
                <a:effectLst/>
                <a:uFillTx/>
                <a:latin typeface="Calibri"/>
              </a:rPr>
              <a:t>Click to move the slide</a:t>
            </a:r>
            <a:endParaRPr lang="en-IN" sz="1800" b="0" u="none" strike="noStrike">
              <a:solidFill>
                <a:schemeClr val="dk1"/>
              </a:solidFill>
              <a:effectLst/>
              <a:uFillTx/>
              <a:latin typeface="Calibri"/>
            </a:endParaRPr>
          </a:p>
        </p:txBody>
      </p:sp>
      <p:sp>
        <p:nvSpPr>
          <p:cNvPr id="1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1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14"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5"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6"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B6072092-662C-4EC3-B008-F59940C11367}"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0" y="0"/>
            <a:ext cx="0" cy="0"/>
          </a:xfrm>
          <a:prstGeom prst="rect">
            <a:avLst/>
          </a:prstGeom>
          <a:ln w="0">
            <a:noFill/>
          </a:ln>
        </p:spPr>
      </p:sp>
      <p:sp>
        <p:nvSpPr>
          <p:cNvPr id="14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Good morning. Our project is E-commerce Database Management and Inventory Optimization. I will cover four things: the objective, the design, the technology we used, and a short demo.</a:t>
            </a:r>
            <a:endParaRPr lang="en-IN" sz="2000" b="0" u="none" strike="noStrike">
              <a:solidFill>
                <a:srgbClr val="000000"/>
              </a:solidFill>
              <a:effectLst/>
              <a:uFillTx/>
              <a:latin typeface="Arial"/>
            </a:endParaRPr>
          </a:p>
        </p:txBody>
      </p:sp>
      <p:sp>
        <p:nvSpPr>
          <p:cNvPr id="141"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9372573C-8D6B-48D2-A916-60CD291F176E}"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0" y="0"/>
            <a:ext cx="0" cy="0"/>
          </a:xfrm>
          <a:prstGeom prst="rect">
            <a:avLst/>
          </a:prstGeom>
          <a:ln w="0">
            <a:noFill/>
          </a:ln>
        </p:spPr>
      </p:sp>
      <p:sp>
        <p:nvSpPr>
          <p:cNvPr id="14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source data is about a million e-commerce records in one wide table. That makes querying and planning hard. We wanted to normalize it, expose it securely, forecast demand, and show it in a dashboard.</a:t>
            </a:r>
            <a:endParaRPr lang="en-IN" sz="2000" b="0" u="none" strike="noStrike">
              <a:solidFill>
                <a:srgbClr val="000000"/>
              </a:solidFill>
              <a:effectLst/>
              <a:uFillTx/>
              <a:latin typeface="Arial"/>
            </a:endParaRPr>
          </a:p>
        </p:txBody>
      </p:sp>
      <p:sp>
        <p:nvSpPr>
          <p:cNvPr id="144"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7513BD3-3B50-418E-B65C-44A3D47C81C6}"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0" y="0"/>
            <a:ext cx="0" cy="0"/>
          </a:xfrm>
          <a:prstGeom prst="rect">
            <a:avLst/>
          </a:prstGeom>
          <a:ln w="0">
            <a:noFill/>
          </a:ln>
        </p:spPr>
      </p:sp>
      <p:sp>
        <p:nvSpPr>
          <p:cNvPr id="14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We separated the data into twelve tables. Seven hold core business data, three hold forecasts and scheduler history, and two handle users and warehouse access. Primary and foreign keys keep the data consistent. The composite key on recommendation allows several forecast dates per product and warehouse, but no duplicates.</a:t>
            </a:r>
            <a:endParaRPr lang="en-IN" sz="2000" b="0" u="none" strike="noStrike">
              <a:solidFill>
                <a:srgbClr val="000000"/>
              </a:solidFill>
              <a:effectLst/>
              <a:uFillTx/>
              <a:latin typeface="Arial"/>
            </a:endParaRPr>
          </a:p>
        </p:txBody>
      </p:sp>
      <p:sp>
        <p:nvSpPr>
          <p:cNvPr id="147"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1234E705-FE94-457A-93FC-76224C39E3F5}"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0" y="0"/>
            <a:ext cx="0" cy="0"/>
          </a:xfrm>
          <a:prstGeom prst="rect">
            <a:avLst/>
          </a:prstGeom>
          <a:ln w="0">
            <a:noFill/>
          </a:ln>
        </p:spPr>
      </p:sp>
      <p:sp>
        <p:nvSpPr>
          <p:cNvPr id="14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Data flows through four layers. Pandas prepares it, MariaDB stores it, FastAPI serves it through parameterized SQL and checks the user's role, and Streamlit shows it. Streamlit never touches the database directly. Separately, a scheduled forecasting job reads order history, picks between SES and LightGBM, and writes recommendations back to the database. The statuses are OK, REORDER_NOW, CRITICAL and OVERSHOOT.</a:t>
            </a:r>
            <a:endParaRPr lang="en-IN" sz="2000" b="0" u="none" strike="noStrike">
              <a:solidFill>
                <a:srgbClr val="000000"/>
              </a:solidFill>
              <a:effectLst/>
              <a:uFillTx/>
              <a:latin typeface="Arial"/>
            </a:endParaRPr>
          </a:p>
        </p:txBody>
      </p:sp>
      <p:sp>
        <p:nvSpPr>
          <p:cNvPr id="150"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F96304C2-6BD5-4AB7-AA6C-A853875A5350}"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0" y="0"/>
            <a:ext cx="0" cy="0"/>
          </a:xfrm>
          <a:prstGeom prst="rect">
            <a:avLst/>
          </a:prstGeom>
          <a:ln w="0">
            <a:noFill/>
          </a:ln>
        </p:spPr>
      </p:sp>
      <p:sp>
        <p:nvSpPr>
          <p:cNvPr id="15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stack follows the architecture. Python and Pandas for preprocessing, MariaDB for storage, FastAPI with SQLAlchemy and Pydantic for the backend, bcrypt and JWT for security, statsmodels and LightGBM for forecasting, APScheduler for scheduling, and Streamlit for the dashboard.</a:t>
            </a:r>
            <a:endParaRPr lang="en-IN" sz="2000" b="0" u="none" strike="noStrike">
              <a:solidFill>
                <a:srgbClr val="000000"/>
              </a:solidFill>
              <a:effectLst/>
              <a:uFillTx/>
              <a:latin typeface="Arial"/>
            </a:endParaRPr>
          </a:p>
        </p:txBody>
      </p:sp>
      <p:sp>
        <p:nvSpPr>
          <p:cNvPr id="153"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329790FD-9B1F-46A8-BE70-EE818DA20715}"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0" y="0"/>
            <a:ext cx="0" cy="0"/>
          </a:xfrm>
          <a:prstGeom prst="rect">
            <a:avLst/>
          </a:prstGeom>
          <a:ln w="0">
            <a:noFill/>
          </a:ln>
        </p:spPr>
      </p:sp>
      <p:sp>
        <p:nvSpPr>
          <p:cNvPr id="15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Log in as a Manager and note that only the assigned warehouse is accessible. Open Stock and Demand to show products with stored stock and the latest forecast. Open Recommendations, choose a product and the warehouse, and explain predicted demand, safety stock, reorder quantity and status. If time allows, log in as Admin to show all warehouses and the scheduler page. If the network fails, use screenshots.</a:t>
            </a:r>
            <a:endParaRPr lang="en-IN" sz="2000" b="0" u="none" strike="noStrike">
              <a:solidFill>
                <a:srgbClr val="000000"/>
              </a:solidFill>
              <a:effectLst/>
              <a:uFillTx/>
              <a:latin typeface="Arial"/>
            </a:endParaRPr>
          </a:p>
        </p:txBody>
      </p:sp>
      <p:sp>
        <p:nvSpPr>
          <p:cNvPr id="156"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3C354376-716D-4A61-9CFB-FDEA35CB98E0}"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0" y="0"/>
            <a:ext cx="0" cy="0"/>
          </a:xfrm>
          <a:prstGeom prst="rect">
            <a:avLst/>
          </a:prstGeom>
          <a:ln w="0">
            <a:noFill/>
          </a:ln>
        </p:spPr>
      </p:sp>
      <p:sp>
        <p:nvSpPr>
          <p:cNvPr id="15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To conclude: we connected relational database design with secure APIs, weekly forecasting and a simple dashboard. One limitation: stock quantities are historical averages, not live inventory. Next steps would be live stock updates and hosted scheduling. Thank you; happy to take questions.</a:t>
            </a:r>
            <a:endParaRPr lang="en-IN" sz="2000" b="0" u="none" strike="noStrike">
              <a:solidFill>
                <a:srgbClr val="000000"/>
              </a:solidFill>
              <a:effectLst/>
              <a:uFillTx/>
              <a:latin typeface="Arial"/>
            </a:endParaRPr>
          </a:p>
        </p:txBody>
      </p:sp>
      <p:sp>
        <p:nvSpPr>
          <p:cNvPr id="159"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5D561DE5-ABBE-4228-AE1A-E1BB98D23E93}" type="slidenum">
              <a:rPr lang="en-US" sz="1800" b="0" u="none" strike="noStrike">
                <a:solidFill>
                  <a:schemeClr val="dk1"/>
                </a:solidFill>
                <a:effectLst/>
                <a:uFillTx/>
                <a:latin typeface="+mn-lt"/>
                <a:ea typeface="+mn-ea"/>
              </a:rPr>
              <a:t>&lt;number&gt;</a:t>
            </a:fld>
            <a:endParaRPr lang="en-IN"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DAR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3640" cy="5143320"/>
          </a:xfrm>
          <a:prstGeom prst="rect">
            <a:avLst/>
          </a:prstGeom>
          <a:solidFill>
            <a:schemeClr val="tx2"/>
          </a:solidFill>
          <a:ln w="0">
            <a:noFill/>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3" name="PlaceHolder 1"/>
          <p:cNvSpPr>
            <a:spLocks noGrp="1"/>
          </p:cNvSpPr>
          <p:nvPr>
            <p:ph type="title"/>
          </p:nvPr>
        </p:nvSpPr>
        <p:spPr>
          <a:xfrm>
            <a:off x="640080" y="1097280"/>
            <a:ext cx="7863480" cy="1462680"/>
          </a:xfrm>
          <a:prstGeom prst="rect">
            <a:avLst/>
          </a:prstGeom>
          <a:noFill/>
          <a:ln w="0">
            <a:noFill/>
          </a:ln>
        </p:spPr>
        <p:txBody>
          <a:bodyPr lIns="90000" tIns="45000" rIns="90000" bIns="45000" anchor="t">
            <a:noAutofit/>
          </a:bodyPr>
          <a:lstStyle>
            <a:lvl1pPr indent="0" algn="l">
              <a:buNone/>
              <a:defRPr lang="en-IN" sz="4000" b="0" u="none" strike="noStrike">
                <a:solidFill>
                  <a:schemeClr val="dk1"/>
                </a:solidFill>
                <a:effectLst/>
                <a:uFillTx/>
                <a:latin typeface="Calibri"/>
              </a:defRPr>
            </a:lvl1pPr>
          </a:lstStyle>
          <a:p>
            <a:pPr indent="0" algn="l">
              <a:buNone/>
            </a:pPr>
            <a:r>
              <a:rPr lang="en-IN" sz="4000" b="0" u="none" strike="noStrike">
                <a:solidFill>
                  <a:schemeClr val="dk1"/>
                </a:solidFill>
                <a:effectLst/>
                <a:uFillTx/>
                <a:latin typeface="Calibri"/>
              </a:rPr>
              <a:t>Click to edit the title text format</a:t>
            </a:r>
            <a:endParaRPr lang="en-IN" sz="4000" b="0" u="none" strike="noStrike">
              <a:solidFill>
                <a:schemeClr val="dk1"/>
              </a:solidFill>
              <a:effectLst/>
              <a:uFillTx/>
              <a:latin typeface="Calibri"/>
            </a:endParaRPr>
          </a:p>
        </p:txBody>
      </p:sp>
      <p:sp>
        <p:nvSpPr>
          <p:cNvPr id="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548640" y="320040"/>
            <a:ext cx="8046360" cy="639720"/>
          </a:xfrm>
          <a:prstGeom prst="rect">
            <a:avLst/>
          </a:prstGeom>
          <a:noFill/>
          <a:ln w="0">
            <a:noFill/>
          </a:ln>
        </p:spPr>
        <p:txBody>
          <a:bodyPr lIns="90000" tIns="45000" rIns="90000" bIns="45000" anchor="t">
            <a:noAutofit/>
          </a:bodyPr>
          <a:lstStyle>
            <a:lvl1pPr indent="0" algn="l">
              <a:buNone/>
              <a:defRPr lang="en-IN" sz="3200" b="0" u="none" strike="noStrike">
                <a:solidFill>
                  <a:schemeClr val="dk1"/>
                </a:solidFill>
                <a:effectLst/>
                <a:uFillTx/>
                <a:latin typeface="Calibri"/>
              </a:defRPr>
            </a:lvl1pPr>
          </a:lstStyle>
          <a:p>
            <a:pPr indent="0" algn="l">
              <a:buNone/>
            </a:pPr>
            <a:r>
              <a:rPr lang="en-IN" sz="3200" b="0" u="none" strike="noStrike">
                <a:solidFill>
                  <a:schemeClr val="dk1"/>
                </a:solidFill>
                <a:effectLst/>
                <a:uFillTx/>
                <a:latin typeface="Calibri"/>
              </a:rPr>
              <a:t>Click to edit the title text format</a:t>
            </a:r>
            <a:endParaRPr lang="en-IN" sz="3200" b="0" u="none" strike="noStrike">
              <a:solidFill>
                <a:schemeClr val="dk1"/>
              </a:solidFill>
              <a:effectLst/>
              <a:uFillTx/>
              <a:latin typeface="Calibri"/>
            </a:endParaRPr>
          </a:p>
        </p:txBody>
      </p:sp>
      <p:sp>
        <p:nvSpPr>
          <p:cNvPr id="6" name="Text 0"/>
          <p:cNvSpPr/>
          <p:nvPr/>
        </p:nvSpPr>
        <p:spPr>
          <a:xfrm>
            <a:off x="548640" y="4709160"/>
            <a:ext cx="45716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5F6B7A"/>
                </a:solidFill>
                <a:effectLst/>
                <a:uFillTx/>
                <a:latin typeface="Calibri"/>
              </a:rPr>
              <a:t>DBMS Course Project  ·  IIT Guwahati</a:t>
            </a:r>
            <a:endParaRPr lang="en-IN" sz="1200" b="0" u="none" strike="noStrike">
              <a:solidFill>
                <a:srgbClr val="000000"/>
              </a:solidFill>
              <a:effectLst/>
              <a:uFillTx/>
              <a:latin typeface="Arial"/>
            </a:endParaRPr>
          </a:p>
        </p:txBody>
      </p:sp>
      <p:sp>
        <p:nvSpPr>
          <p:cNvPr id="7" name="PlaceHolder 2"/>
          <p:cNvSpPr>
            <a:spLocks noGrp="1"/>
          </p:cNvSpPr>
          <p:nvPr>
            <p:ph type="sldNum" idx="1"/>
          </p:nvPr>
        </p:nvSpPr>
        <p:spPr>
          <a:xfrm>
            <a:off x="8046720" y="4709160"/>
            <a:ext cx="548280" cy="27396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rgbClr val="5F6B7A"/>
                </a:solidFill>
                <a:effectLst/>
                <a:uFillTx/>
                <a:latin typeface="Calibri"/>
              </a:defRPr>
            </a:lvl1pPr>
          </a:lstStyle>
          <a:p>
            <a:pPr indent="0" algn="r" defTabSz="914400">
              <a:lnSpc>
                <a:spcPct val="100000"/>
              </a:lnSpc>
              <a:buNone/>
            </a:pPr>
            <a:fld id="{92BAE119-25DE-41CB-B6CB-275047C5C225}" type="slidenum">
              <a:rPr lang="en-US" sz="1200" b="0" u="none" strike="noStrike">
                <a:solidFill>
                  <a:srgbClr val="5F6B7A"/>
                </a:solidFill>
                <a:effectLst/>
                <a:uFillTx/>
                <a:latin typeface="Calibri"/>
              </a:rPr>
              <a:t>&lt;number&gt;</a:t>
            </a:fld>
            <a:endParaRPr lang="en-IN" sz="1200" b="0" u="none" strike="noStrike">
              <a:solidFill>
                <a:srgbClr val="000000"/>
              </a:solidFill>
              <a:effectLst/>
              <a:uFillTx/>
              <a:latin typeface="Times New Roman"/>
            </a:endParaRPr>
          </a:p>
        </p:txBody>
      </p:sp>
      <p:sp>
        <p:nvSpPr>
          <p:cNvPr id="8"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_DARK">
    <p:bg>
      <p:bgPr>
        <a:solidFill>
          <a:srgbClr val="FFFFFF"/>
        </a:solidFill>
      </p:bgPr>
    </p:bg>
    <p:spTree>
      <p:nvGrpSpPr>
        <p:cNvPr id="1" name=""/>
        <p:cNvGrpSpPr/>
        <p:nvPr/>
      </p:nvGrpSpPr>
      <p:grpSpPr>
        <a:xfrm>
          <a:off x="0" y="0"/>
          <a:ext cx="0" cy="0"/>
          <a:chOff x="0" y="0"/>
          <a:chExt cx="0" cy="0"/>
        </a:xfrm>
      </p:grpSpPr>
      <p:sp>
        <p:nvSpPr>
          <p:cNvPr id="9" name="Shape 0"/>
          <p:cNvSpPr/>
          <p:nvPr/>
        </p:nvSpPr>
        <p:spPr>
          <a:xfrm>
            <a:off x="0" y="0"/>
            <a:ext cx="9143640" cy="5143320"/>
          </a:xfrm>
          <a:prstGeom prst="rect">
            <a:avLst/>
          </a:prstGeom>
          <a:solidFill>
            <a:schemeClr val="tx2"/>
          </a:solidFill>
          <a:ln w="0">
            <a:noFill/>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10" name="PlaceHolder 1"/>
          <p:cNvSpPr>
            <a:spLocks noGrp="1"/>
          </p:cNvSpPr>
          <p:nvPr>
            <p:ph type="title"/>
          </p:nvPr>
        </p:nvSpPr>
        <p:spPr>
          <a:xfrm>
            <a:off x="548640" y="320040"/>
            <a:ext cx="8046360" cy="639720"/>
          </a:xfrm>
          <a:prstGeom prst="rect">
            <a:avLst/>
          </a:prstGeom>
          <a:noFill/>
          <a:ln w="0">
            <a:noFill/>
          </a:ln>
        </p:spPr>
        <p:txBody>
          <a:bodyPr lIns="90000" tIns="45000" rIns="90000" bIns="45000" anchor="t">
            <a:noAutofit/>
          </a:bodyPr>
          <a:lstStyle>
            <a:lvl1pPr indent="0" algn="l">
              <a:buNone/>
              <a:defRPr lang="en-IN" sz="3200" b="0" u="none" strike="noStrike">
                <a:solidFill>
                  <a:schemeClr val="dk1"/>
                </a:solidFill>
                <a:effectLst/>
                <a:uFillTx/>
                <a:latin typeface="Calibri"/>
              </a:defRPr>
            </a:lvl1pPr>
          </a:lstStyle>
          <a:p>
            <a:pPr indent="0" algn="l">
              <a:buNone/>
            </a:pPr>
            <a:r>
              <a:rPr lang="en-IN" sz="3200" b="0" u="none" strike="noStrike">
                <a:solidFill>
                  <a:schemeClr val="dk1"/>
                </a:solidFill>
                <a:effectLst/>
                <a:uFillTx/>
                <a:latin typeface="Calibri"/>
              </a:rPr>
              <a:t>Click to edit the title text format</a:t>
            </a:r>
            <a:endParaRPr lang="en-IN" sz="3200" b="0" u="none" strike="noStrike">
              <a:solidFill>
                <a:schemeClr val="dk1"/>
              </a:solidFill>
              <a:effectLst/>
              <a:uFillTx/>
              <a:latin typeface="Calibri"/>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hyperlink" Target="http://localhost:8501/" TargetMode="External"/><Relationship Id="rId2" Type="http://schemas.openxmlformats.org/officeDocument/2006/relationships/slideLayout" Target="../slideLayouts/slideLayout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PlaceHolder 1"/>
          <p:cNvSpPr>
            <a:spLocks noGrp="1"/>
          </p:cNvSpPr>
          <p:nvPr>
            <p:ph type="title" hasCustomPrompt="1"/>
          </p:nvPr>
        </p:nvSpPr>
        <p:spPr>
          <a:xfrm>
            <a:off x="640080" y="1097280"/>
            <a:ext cx="7863480" cy="1462680"/>
          </a:xfrm>
          <a:prstGeom prst="rect">
            <a:avLst/>
          </a:prstGeom>
          <a:noFill/>
          <a:ln w="0">
            <a:noFill/>
          </a:ln>
        </p:spPr>
        <p:txBody>
          <a:bodyPr lIns="0" tIns="0" rIns="0" bIns="0" anchor="b">
            <a:noAutofit/>
          </a:bodyPr>
          <a:p>
            <a:pPr indent="0" algn="l" defTabSz="914400">
              <a:lnSpc>
                <a:spcPct val="100000"/>
              </a:lnSpc>
              <a:buNone/>
              <a:tabLst>
                <a:tab pos="0" algn="l"/>
              </a:tabLst>
            </a:pPr>
            <a:r>
              <a:rPr lang="en-US" sz="4000" b="1" u="none" strike="noStrike">
                <a:solidFill>
                  <a:schemeClr val="lt1"/>
                </a:solidFill>
                <a:effectLst/>
                <a:uFillTx/>
                <a:latin typeface="Cambria"/>
              </a:rPr>
              <a:t>E-commerce Database Management &amp; Inventory Optimization</a:t>
            </a:r>
            <a:endParaRPr lang="en-IN" sz="4000" b="0" u="none" strike="noStrike">
              <a:solidFill>
                <a:schemeClr val="dk1"/>
              </a:solidFill>
              <a:effectLst/>
              <a:uFillTx/>
              <a:latin typeface="Calibri"/>
            </a:endParaRPr>
          </a:p>
        </p:txBody>
      </p:sp>
      <p:sp>
        <p:nvSpPr>
          <p:cNvPr id="18" name="Tagline"/>
          <p:cNvSpPr/>
          <p:nvPr/>
        </p:nvSpPr>
        <p:spPr>
          <a:xfrm>
            <a:off x="640080" y="2743200"/>
            <a:ext cx="82771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pPr>
            <a:r>
              <a:rPr lang="en-IN" sz="2000" b="0" u="none" strike="noStrike">
                <a:solidFill>
                  <a:schemeClr val="lt1"/>
                </a:solidFill>
                <a:effectLst/>
                <a:uFillTx/>
                <a:latin typeface="Calibri"/>
              </a:rPr>
              <a:t>Himanshu Mandal • Subhadeep Sarkar • Swarnava Kundu • Tanay Mahapatra</a:t>
            </a:r>
            <a:endParaRPr lang="en-IN" sz="2000" b="0" u="none" strike="noStrike">
              <a:solidFill>
                <a:srgbClr val="000000"/>
              </a:solidFill>
              <a:effectLst/>
              <a:uFillTx/>
              <a:latin typeface="Arial"/>
            </a:endParaRPr>
          </a:p>
        </p:txBody>
      </p:sp>
      <p:sp>
        <p:nvSpPr>
          <p:cNvPr id="19" name="Pill 1"/>
          <p:cNvSpPr/>
          <p:nvPr/>
        </p:nvSpPr>
        <p:spPr>
          <a:xfrm>
            <a:off x="640080" y="3429000"/>
            <a:ext cx="1828440" cy="365400"/>
          </a:xfrm>
          <a:prstGeom prst="roundRect">
            <a:avLst>
              <a:gd name="adj" fmla="val 37500"/>
            </a:avLst>
          </a:prstGeom>
          <a:solidFill>
            <a:schemeClr val="lt1">
              <a:alpha val="15000"/>
            </a:schemeClr>
          </a:solidFill>
          <a:ln w="127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chemeClr val="lt1"/>
                </a:solidFill>
                <a:effectLst/>
                <a:uFillTx/>
                <a:latin typeface="Calibri"/>
              </a:rPr>
              <a:t>Relational database</a:t>
            </a:r>
            <a:endParaRPr lang="en-IN" sz="1400" b="0" u="none" strike="noStrike">
              <a:solidFill>
                <a:srgbClr val="000000"/>
              </a:solidFill>
              <a:effectLst/>
              <a:uFillTx/>
              <a:latin typeface="Arial"/>
            </a:endParaRPr>
          </a:p>
        </p:txBody>
      </p:sp>
      <p:sp>
        <p:nvSpPr>
          <p:cNvPr id="20" name="Pill 2"/>
          <p:cNvSpPr/>
          <p:nvPr/>
        </p:nvSpPr>
        <p:spPr>
          <a:xfrm>
            <a:off x="2651760" y="3429000"/>
            <a:ext cx="1828440" cy="365400"/>
          </a:xfrm>
          <a:prstGeom prst="roundRect">
            <a:avLst>
              <a:gd name="adj" fmla="val 37500"/>
            </a:avLst>
          </a:prstGeom>
          <a:solidFill>
            <a:schemeClr val="lt1">
              <a:alpha val="15000"/>
            </a:schemeClr>
          </a:solidFill>
          <a:ln w="127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chemeClr val="lt1"/>
                </a:solidFill>
                <a:effectLst/>
                <a:uFillTx/>
                <a:latin typeface="Calibri"/>
              </a:rPr>
              <a:t>Secure APIs</a:t>
            </a:r>
            <a:endParaRPr lang="en-IN" sz="1400" b="0" u="none" strike="noStrike">
              <a:solidFill>
                <a:srgbClr val="000000"/>
              </a:solidFill>
              <a:effectLst/>
              <a:uFillTx/>
              <a:latin typeface="Arial"/>
            </a:endParaRPr>
          </a:p>
        </p:txBody>
      </p:sp>
      <p:sp>
        <p:nvSpPr>
          <p:cNvPr id="21" name="Pill 3"/>
          <p:cNvSpPr/>
          <p:nvPr/>
        </p:nvSpPr>
        <p:spPr>
          <a:xfrm>
            <a:off x="4663440" y="3429000"/>
            <a:ext cx="1828440" cy="365400"/>
          </a:xfrm>
          <a:prstGeom prst="roundRect">
            <a:avLst>
              <a:gd name="adj" fmla="val 37500"/>
            </a:avLst>
          </a:prstGeom>
          <a:solidFill>
            <a:schemeClr val="lt1">
              <a:alpha val="15000"/>
            </a:schemeClr>
          </a:solidFill>
          <a:ln w="12700">
            <a:solidFill>
              <a:srgbClr val="FFFFFF"/>
            </a:solidFill>
            <a:round/>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chemeClr val="lt1"/>
                </a:solidFill>
                <a:effectLst/>
                <a:uFillTx/>
                <a:latin typeface="Calibri"/>
              </a:rPr>
              <a:t>Demand forecasts</a:t>
            </a:r>
            <a:endParaRPr lang="en-IN" sz="1400" b="0" u="none" strike="noStrike">
              <a:solidFill>
                <a:srgbClr val="000000"/>
              </a:solidFill>
              <a:effectLst/>
              <a:uFillTx/>
              <a:latin typeface="Arial"/>
            </a:endParaRPr>
          </a:p>
        </p:txBody>
      </p:sp>
      <p:sp>
        <p:nvSpPr>
          <p:cNvPr id="22" name="Course"/>
          <p:cNvSpPr/>
          <p:nvPr/>
        </p:nvSpPr>
        <p:spPr>
          <a:xfrm>
            <a:off x="640080" y="4343400"/>
            <a:ext cx="78634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alibri"/>
              </a:rPr>
              <a:t>DBMS Course Project  ·  IIT Guwahati</a:t>
            </a:r>
            <a:endParaRPr lang="en-IN" sz="1400" b="0" u="none" strike="noStrike">
              <a:solidFill>
                <a:srgbClr val="000000"/>
              </a:solidFill>
              <a:effectLst/>
              <a:uFillTx/>
              <a:latin typeface="Arial"/>
            </a:endParaRPr>
          </a:p>
        </p:txBody>
      </p:sp>
    </p:spTree>
  </p:cSld>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PlaceHolder 1"/>
          <p:cNvSpPr>
            <a:spLocks noGrp="1"/>
          </p:cNvSpPr>
          <p:nvPr>
            <p:ph type="title" hasCustomPrompt="1"/>
          </p:nvPr>
        </p:nvSpPr>
        <p:spPr>
          <a:xfrm>
            <a:off x="548640" y="320040"/>
            <a:ext cx="8046360" cy="6397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2"/>
                </a:solidFill>
                <a:effectLst/>
                <a:uFillTx/>
                <a:latin typeface="Cambria"/>
              </a:rPr>
              <a:t>Objective</a:t>
            </a:r>
            <a:endParaRPr lang="en-IN" sz="3200" b="0" u="none" strike="noStrike">
              <a:solidFill>
                <a:schemeClr val="dk1"/>
              </a:solidFill>
              <a:effectLst/>
              <a:uFillTx/>
              <a:latin typeface="Calibri"/>
            </a:endParaRPr>
          </a:p>
        </p:txBody>
      </p:sp>
      <p:sp>
        <p:nvSpPr>
          <p:cNvPr id="24" name="Subtitle"/>
          <p:cNvSpPr/>
          <p:nvPr/>
        </p:nvSpPr>
        <p:spPr>
          <a:xfrm>
            <a:off x="548640" y="960120"/>
            <a:ext cx="8046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5"/>
                </a:solidFill>
                <a:effectLst/>
                <a:uFillTx/>
                <a:latin typeface="Calibri"/>
              </a:rPr>
              <a:t>Why we built this, and what it should do</a:t>
            </a:r>
            <a:endParaRPr lang="en-IN" sz="1600" b="0" u="none" strike="noStrike">
              <a:solidFill>
                <a:srgbClr val="000000"/>
              </a:solidFill>
              <a:effectLst/>
              <a:uFillTx/>
              <a:latin typeface="Arial"/>
            </a:endParaRPr>
          </a:p>
        </p:txBody>
      </p:sp>
      <p:sp>
        <p:nvSpPr>
          <p:cNvPr id="25" name="Problem card"/>
          <p:cNvSpPr/>
          <p:nvPr/>
        </p:nvSpPr>
        <p:spPr>
          <a:xfrm>
            <a:off x="548640" y="1463040"/>
            <a:ext cx="3840120" cy="3062880"/>
          </a:xfrm>
          <a:prstGeom prst="roundRect">
            <a:avLst>
              <a:gd name="adj" fmla="val 2388"/>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26" name="Problem heading"/>
          <p:cNvSpPr/>
          <p:nvPr/>
        </p:nvSpPr>
        <p:spPr>
          <a:xfrm>
            <a:off x="777240" y="1645920"/>
            <a:ext cx="338292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2"/>
                </a:solidFill>
                <a:effectLst/>
                <a:uFillTx/>
                <a:latin typeface="Calibri"/>
              </a:rPr>
              <a:t>The problem</a:t>
            </a:r>
            <a:endParaRPr lang="en-IN" sz="2000" b="0" u="none" strike="noStrike">
              <a:solidFill>
                <a:srgbClr val="000000"/>
              </a:solidFill>
              <a:effectLst/>
              <a:uFillTx/>
              <a:latin typeface="Arial"/>
            </a:endParaRPr>
          </a:p>
        </p:txBody>
      </p:sp>
      <p:sp>
        <p:nvSpPr>
          <p:cNvPr id="27" name="Problem list"/>
          <p:cNvSpPr/>
          <p:nvPr/>
        </p:nvSpPr>
        <p:spPr>
          <a:xfrm>
            <a:off x="777240" y="2148840"/>
            <a:ext cx="3382920" cy="21942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001"/>
              </a:spcAft>
              <a:buClr>
                <a:srgbClr val="1F2937"/>
              </a:buClr>
              <a:buFont typeface="Symbol" charset="2"/>
              <a:buChar char=""/>
            </a:pPr>
            <a:r>
              <a:rPr lang="en-US" sz="1600" b="0" u="none" strike="noStrike">
                <a:solidFill>
                  <a:schemeClr val="dk1"/>
                </a:solidFill>
                <a:effectLst/>
                <a:uFillTx/>
                <a:latin typeface="Calibri"/>
              </a:rPr>
              <a:t>Orders, products, customers and warehouses sit in one wide dataset</a:t>
            </a:r>
            <a:endParaRPr lang="en-IN" sz="1600" b="0" u="none" strike="noStrike">
              <a:solidFill>
                <a:srgbClr val="000000"/>
              </a:solidFill>
              <a:effectLst/>
              <a:uFillTx/>
              <a:latin typeface="Arial"/>
            </a:endParaRPr>
          </a:p>
          <a:p>
            <a:pPr marL="343080" indent="-343080" defTabSz="914400">
              <a:lnSpc>
                <a:spcPct val="100000"/>
              </a:lnSpc>
              <a:spcAft>
                <a:spcPts val="1001"/>
              </a:spcAft>
              <a:buClr>
                <a:srgbClr val="1F2937"/>
              </a:buClr>
              <a:buFont typeface="Symbol" charset="2"/>
              <a:buChar char=""/>
            </a:pPr>
            <a:r>
              <a:rPr lang="en-US" sz="1600" b="0" u="none" strike="noStrike">
                <a:solidFill>
                  <a:schemeClr val="dk1"/>
                </a:solidFill>
                <a:effectLst/>
                <a:uFillTx/>
                <a:latin typeface="Calibri"/>
              </a:rPr>
              <a:t>Demand is uncertain, so we have to be prepared in advance</a:t>
            </a:r>
            <a:endParaRPr lang="en-IN" sz="1600" b="0" u="none" strike="noStrike">
              <a:solidFill>
                <a:srgbClr val="000000"/>
              </a:solidFill>
              <a:effectLst/>
              <a:uFillTx/>
              <a:latin typeface="Arial"/>
            </a:endParaRPr>
          </a:p>
          <a:p>
            <a:pPr marL="343080" indent="-343080" defTabSz="914400">
              <a:lnSpc>
                <a:spcPct val="100000"/>
              </a:lnSpc>
              <a:spcAft>
                <a:spcPts val="1001"/>
              </a:spcAft>
              <a:buClr>
                <a:srgbClr val="1F2937"/>
              </a:buClr>
              <a:buFont typeface="Symbol" charset="2"/>
              <a:buChar char=""/>
            </a:pPr>
            <a:r>
              <a:rPr lang="en-US" sz="1600" b="0" u="none" strike="noStrike">
                <a:solidFill>
                  <a:schemeClr val="dk1"/>
                </a:solidFill>
                <a:effectLst/>
                <a:uFillTx/>
                <a:latin typeface="Calibri"/>
              </a:rPr>
              <a:t>Managers should see only their own warehouse</a:t>
            </a:r>
            <a:endParaRPr lang="en-IN" sz="1600" b="0" u="none" strike="noStrike">
              <a:solidFill>
                <a:srgbClr val="000000"/>
              </a:solidFill>
              <a:effectLst/>
              <a:uFillTx/>
              <a:latin typeface="Arial"/>
            </a:endParaRPr>
          </a:p>
        </p:txBody>
      </p:sp>
      <p:sp>
        <p:nvSpPr>
          <p:cNvPr id="28" name="Objectives heading"/>
          <p:cNvSpPr/>
          <p:nvPr/>
        </p:nvSpPr>
        <p:spPr>
          <a:xfrm>
            <a:off x="4754880" y="1645920"/>
            <a:ext cx="384012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dk2"/>
                </a:solidFill>
                <a:effectLst/>
                <a:uFillTx/>
                <a:latin typeface="Calibri"/>
              </a:rPr>
              <a:t>Our objectives</a:t>
            </a:r>
            <a:endParaRPr lang="en-IN" sz="2000" b="0" u="none" strike="noStrike">
              <a:solidFill>
                <a:srgbClr val="000000"/>
              </a:solidFill>
              <a:effectLst/>
              <a:uFillTx/>
              <a:latin typeface="Arial"/>
            </a:endParaRPr>
          </a:p>
        </p:txBody>
      </p:sp>
      <p:sp>
        <p:nvSpPr>
          <p:cNvPr id="29" name="Objective number 1"/>
          <p:cNvSpPr/>
          <p:nvPr/>
        </p:nvSpPr>
        <p:spPr>
          <a:xfrm>
            <a:off x="4754880" y="214884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1</a:t>
            </a:r>
            <a:endParaRPr lang="en-IN" sz="1600" b="0" u="none" strike="noStrike">
              <a:solidFill>
                <a:srgbClr val="FFFFFF"/>
              </a:solidFill>
              <a:effectLst/>
              <a:uFillTx/>
              <a:latin typeface="Arial"/>
            </a:endParaRPr>
          </a:p>
        </p:txBody>
      </p:sp>
      <p:sp>
        <p:nvSpPr>
          <p:cNvPr id="30" name="Objective 1"/>
          <p:cNvSpPr/>
          <p:nvPr/>
        </p:nvSpPr>
        <p:spPr>
          <a:xfrm>
            <a:off x="5349240" y="2148840"/>
            <a:ext cx="32457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Normalize: </a:t>
            </a:r>
            <a:r>
              <a:rPr lang="en-US" sz="1400" b="0" u="none" strike="noStrike">
                <a:solidFill>
                  <a:schemeClr val="dk1"/>
                </a:solidFill>
                <a:effectLst/>
                <a:uFillTx/>
                <a:latin typeface="Calibri"/>
              </a:rPr>
              <a:t>Split about 1 million order records into related MariaDB tables</a:t>
            </a:r>
            <a:endParaRPr lang="en-IN" sz="1400" b="0" u="none" strike="noStrike">
              <a:solidFill>
                <a:srgbClr val="000000"/>
              </a:solidFill>
              <a:effectLst/>
              <a:uFillTx/>
              <a:latin typeface="Arial"/>
            </a:endParaRPr>
          </a:p>
        </p:txBody>
      </p:sp>
      <p:sp>
        <p:nvSpPr>
          <p:cNvPr id="31" name="Objective number 2"/>
          <p:cNvSpPr/>
          <p:nvPr/>
        </p:nvSpPr>
        <p:spPr>
          <a:xfrm>
            <a:off x="4754880" y="274320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2</a:t>
            </a:r>
            <a:endParaRPr lang="en-IN" sz="1600" b="0" u="none" strike="noStrike">
              <a:solidFill>
                <a:srgbClr val="FFFFFF"/>
              </a:solidFill>
              <a:effectLst/>
              <a:uFillTx/>
              <a:latin typeface="Arial"/>
            </a:endParaRPr>
          </a:p>
        </p:txBody>
      </p:sp>
      <p:sp>
        <p:nvSpPr>
          <p:cNvPr id="32" name="Objective 2"/>
          <p:cNvSpPr/>
          <p:nvPr/>
        </p:nvSpPr>
        <p:spPr>
          <a:xfrm>
            <a:off x="5349240" y="2743200"/>
            <a:ext cx="32457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Serve: </a:t>
            </a:r>
            <a:r>
              <a:rPr lang="en-US" sz="1400" b="0" u="none" strike="noStrike">
                <a:solidFill>
                  <a:schemeClr val="dk1"/>
                </a:solidFill>
                <a:effectLst/>
                <a:uFillTx/>
                <a:latin typeface="Calibri"/>
              </a:rPr>
              <a:t>Provide secure REST APIs with role-based access</a:t>
            </a:r>
            <a:endParaRPr lang="en-IN" sz="1400" b="0" u="none" strike="noStrike">
              <a:solidFill>
                <a:srgbClr val="000000"/>
              </a:solidFill>
              <a:effectLst/>
              <a:uFillTx/>
              <a:latin typeface="Arial"/>
            </a:endParaRPr>
          </a:p>
        </p:txBody>
      </p:sp>
      <p:sp>
        <p:nvSpPr>
          <p:cNvPr id="33" name="Objective number 3"/>
          <p:cNvSpPr/>
          <p:nvPr/>
        </p:nvSpPr>
        <p:spPr>
          <a:xfrm>
            <a:off x="4754880" y="333756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3</a:t>
            </a:r>
            <a:endParaRPr lang="en-IN" sz="1600" b="0" u="none" strike="noStrike">
              <a:solidFill>
                <a:srgbClr val="FFFFFF"/>
              </a:solidFill>
              <a:effectLst/>
              <a:uFillTx/>
              <a:latin typeface="Arial"/>
            </a:endParaRPr>
          </a:p>
        </p:txBody>
      </p:sp>
      <p:sp>
        <p:nvSpPr>
          <p:cNvPr id="34" name="Objective 3"/>
          <p:cNvSpPr/>
          <p:nvPr/>
        </p:nvSpPr>
        <p:spPr>
          <a:xfrm>
            <a:off x="5349240" y="3337560"/>
            <a:ext cx="32457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Forecast: </a:t>
            </a:r>
            <a:r>
              <a:rPr lang="en-US" sz="1400" b="0" u="none" strike="noStrike">
                <a:solidFill>
                  <a:schemeClr val="dk1"/>
                </a:solidFill>
                <a:effectLst/>
                <a:uFillTx/>
                <a:latin typeface="Calibri"/>
              </a:rPr>
              <a:t>Predict weekly demand and suggest reorder quantities</a:t>
            </a:r>
            <a:endParaRPr lang="en-IN" sz="1400" b="0" u="none" strike="noStrike">
              <a:solidFill>
                <a:srgbClr val="000000"/>
              </a:solidFill>
              <a:effectLst/>
              <a:uFillTx/>
              <a:latin typeface="Arial"/>
            </a:endParaRPr>
          </a:p>
        </p:txBody>
      </p:sp>
      <p:sp>
        <p:nvSpPr>
          <p:cNvPr id="35" name="Objective number 4"/>
          <p:cNvSpPr/>
          <p:nvPr/>
        </p:nvSpPr>
        <p:spPr>
          <a:xfrm>
            <a:off x="4754880" y="393192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4</a:t>
            </a:r>
            <a:endParaRPr lang="en-IN" sz="1600" b="0" u="none" strike="noStrike">
              <a:solidFill>
                <a:srgbClr val="FFFFFF"/>
              </a:solidFill>
              <a:effectLst/>
              <a:uFillTx/>
              <a:latin typeface="Arial"/>
            </a:endParaRPr>
          </a:p>
        </p:txBody>
      </p:sp>
      <p:sp>
        <p:nvSpPr>
          <p:cNvPr id="36" name="Objective 4"/>
          <p:cNvSpPr/>
          <p:nvPr/>
        </p:nvSpPr>
        <p:spPr>
          <a:xfrm>
            <a:off x="5349240" y="3931920"/>
            <a:ext cx="324576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Show: </a:t>
            </a:r>
            <a:r>
              <a:rPr lang="en-US" sz="1400" b="0" u="none" strike="noStrike">
                <a:solidFill>
                  <a:schemeClr val="dk1"/>
                </a:solidFill>
                <a:effectLst/>
                <a:uFillTx/>
                <a:latin typeface="Calibri"/>
              </a:rPr>
              <a:t>Present results on a simple Streamlit dashboard</a:t>
            </a:r>
            <a:endParaRPr lang="en-IN" sz="1400" b="0" u="none" strike="noStrike">
              <a:solidFill>
                <a:srgbClr val="000000"/>
              </a:solidFill>
              <a:effectLst/>
              <a:uFillTx/>
              <a:latin typeface="Arial"/>
            </a:endParaRPr>
          </a:p>
        </p:txBody>
      </p:sp>
      <p:sp>
        <p:nvSpPr>
          <p:cNvPr id="37" name="PlaceHolder 2"/>
          <p:cNvSpPr>
            <a:spLocks noGrp="1"/>
          </p:cNvSpPr>
          <p:nvPr>
            <p:ph type="sldNum" idx="5"/>
          </p:nvPr>
        </p:nvSpPr>
        <p:spPr>
          <a:xfrm>
            <a:off x="8046720" y="4709160"/>
            <a:ext cx="548280" cy="27396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rgbClr val="5F6B7A"/>
                </a:solidFill>
                <a:effectLst/>
                <a:uFillTx/>
                <a:latin typeface="Calibri"/>
              </a:defRPr>
            </a:lvl1pPr>
          </a:lstStyle>
          <a:p>
            <a:pPr indent="0" algn="r" defTabSz="914400">
              <a:lnSpc>
                <a:spcPct val="100000"/>
              </a:lnSpc>
              <a:buNone/>
            </a:pPr>
            <a:fld id="{89851CBC-0C45-470D-A244-2543CB4996FA}" type="slidenum">
              <a:rPr lang="en-US" sz="1200" b="0" u="none" strike="noStrike">
                <a:solidFill>
                  <a:srgbClr val="5F6B7A"/>
                </a:solidFill>
                <a:effectLst/>
                <a:uFillTx/>
                <a:latin typeface="Calibri"/>
              </a:rPr>
              <a:t>&lt;number&gt;</a:t>
            </a:fld>
            <a:endParaRPr lang="en-IN" sz="1200" b="0" u="none" strike="noStrike">
              <a:solidFill>
                <a:srgbClr val="000000"/>
              </a:solidFill>
              <a:effectLst/>
              <a:uFillTx/>
              <a:latin typeface="Times New Roman"/>
            </a:endParaRPr>
          </a:p>
        </p:txBody>
      </p:sp>
    </p:spTree>
  </p:cSld>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hasCustomPrompt="1"/>
          </p:nvPr>
        </p:nvSpPr>
        <p:spPr>
          <a:xfrm>
            <a:off x="548640" y="320040"/>
            <a:ext cx="8046360" cy="6397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2"/>
                </a:solidFill>
                <a:effectLst/>
                <a:uFillTx/>
                <a:latin typeface="Cambria"/>
              </a:rPr>
              <a:t>Design: Database</a:t>
            </a:r>
            <a:endParaRPr lang="en-IN" sz="3200" b="0" u="none" strike="noStrike">
              <a:solidFill>
                <a:schemeClr val="dk1"/>
              </a:solidFill>
              <a:effectLst/>
              <a:uFillTx/>
              <a:latin typeface="Calibri"/>
            </a:endParaRPr>
          </a:p>
        </p:txBody>
      </p:sp>
      <p:sp>
        <p:nvSpPr>
          <p:cNvPr id="39" name="Subtitle"/>
          <p:cNvSpPr/>
          <p:nvPr/>
        </p:nvSpPr>
        <p:spPr>
          <a:xfrm>
            <a:off x="548640" y="960120"/>
            <a:ext cx="8046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5"/>
                </a:solidFill>
                <a:effectLst/>
                <a:uFillTx/>
                <a:latin typeface="Calibri"/>
              </a:rPr>
              <a:t>MariaDB database ITDETAILS, 11 tables in three groups</a:t>
            </a:r>
            <a:endParaRPr lang="en-IN" sz="1600" b="0" u="none" strike="noStrike">
              <a:solidFill>
                <a:srgbClr val="000000"/>
              </a:solidFill>
              <a:effectLst/>
              <a:uFillTx/>
              <a:latin typeface="Arial"/>
            </a:endParaRPr>
          </a:p>
        </p:txBody>
      </p:sp>
      <p:sp>
        <p:nvSpPr>
          <p:cNvPr id="40" name="Group card 1"/>
          <p:cNvSpPr/>
          <p:nvPr/>
        </p:nvSpPr>
        <p:spPr>
          <a:xfrm>
            <a:off x="548640" y="1463040"/>
            <a:ext cx="2559960" cy="2514240"/>
          </a:xfrm>
          <a:prstGeom prst="roundRect">
            <a:avLst>
              <a:gd name="adj" fmla="val 2909"/>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41" name="Group count 1"/>
          <p:cNvSpPr/>
          <p:nvPr/>
        </p:nvSpPr>
        <p:spPr>
          <a:xfrm>
            <a:off x="731520" y="1554480"/>
            <a:ext cx="5482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accent2"/>
                </a:solidFill>
                <a:effectLst/>
                <a:uFillTx/>
                <a:latin typeface="Calibri"/>
              </a:rPr>
              <a:t>7</a:t>
            </a:r>
            <a:endParaRPr lang="en-IN" sz="3600" b="0" u="none" strike="noStrike">
              <a:solidFill>
                <a:srgbClr val="000000"/>
              </a:solidFill>
              <a:effectLst/>
              <a:uFillTx/>
              <a:latin typeface="Arial"/>
            </a:endParaRPr>
          </a:p>
        </p:txBody>
      </p:sp>
      <p:sp>
        <p:nvSpPr>
          <p:cNvPr id="42" name="Group name 1"/>
          <p:cNvSpPr/>
          <p:nvPr/>
        </p:nvSpPr>
        <p:spPr>
          <a:xfrm>
            <a:off x="1143000" y="1554480"/>
            <a:ext cx="18284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2"/>
                </a:solidFill>
                <a:effectLst/>
                <a:uFillTx/>
                <a:latin typeface="Calibri"/>
              </a:rPr>
              <a:t>Core data</a:t>
            </a:r>
            <a:endParaRPr lang="en-IN" sz="1800" b="0" u="none" strike="noStrike">
              <a:solidFill>
                <a:srgbClr val="000000"/>
              </a:solidFill>
              <a:effectLst/>
              <a:uFillTx/>
              <a:latin typeface="Arial"/>
            </a:endParaRPr>
          </a:p>
        </p:txBody>
      </p:sp>
      <p:sp>
        <p:nvSpPr>
          <p:cNvPr id="43" name="Group tables 1"/>
          <p:cNvSpPr/>
          <p:nvPr/>
        </p:nvSpPr>
        <p:spPr>
          <a:xfrm>
            <a:off x="731520" y="2194560"/>
            <a:ext cx="2194200" cy="1691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customers</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product</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warehouse</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orders</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order_items</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inventory</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shipment</a:t>
            </a:r>
            <a:endParaRPr lang="en-IN" sz="1400" b="0" u="none" strike="noStrike">
              <a:solidFill>
                <a:srgbClr val="000000"/>
              </a:solidFill>
              <a:effectLst/>
              <a:uFillTx/>
              <a:latin typeface="Arial"/>
            </a:endParaRPr>
          </a:p>
        </p:txBody>
      </p:sp>
      <p:sp>
        <p:nvSpPr>
          <p:cNvPr id="44" name="Group card 2"/>
          <p:cNvSpPr/>
          <p:nvPr/>
        </p:nvSpPr>
        <p:spPr>
          <a:xfrm>
            <a:off x="3291840" y="1463040"/>
            <a:ext cx="2559960" cy="2514240"/>
          </a:xfrm>
          <a:prstGeom prst="roundRect">
            <a:avLst>
              <a:gd name="adj" fmla="val 2909"/>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45" name="Group count 2"/>
          <p:cNvSpPr/>
          <p:nvPr/>
        </p:nvSpPr>
        <p:spPr>
          <a:xfrm>
            <a:off x="3474720" y="1554480"/>
            <a:ext cx="5482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accent2"/>
                </a:solidFill>
                <a:effectLst/>
                <a:uFillTx/>
                <a:latin typeface="Calibri"/>
              </a:rPr>
              <a:t>2</a:t>
            </a:r>
            <a:endParaRPr lang="en-IN" sz="3600" b="0" u="none" strike="noStrike">
              <a:solidFill>
                <a:srgbClr val="000000"/>
              </a:solidFill>
              <a:effectLst/>
              <a:uFillTx/>
              <a:latin typeface="Arial"/>
            </a:endParaRPr>
          </a:p>
        </p:txBody>
      </p:sp>
      <p:sp>
        <p:nvSpPr>
          <p:cNvPr id="46" name="Group name 2"/>
          <p:cNvSpPr/>
          <p:nvPr/>
        </p:nvSpPr>
        <p:spPr>
          <a:xfrm>
            <a:off x="3886200" y="1554480"/>
            <a:ext cx="18284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2"/>
                </a:solidFill>
                <a:effectLst/>
                <a:uFillTx/>
                <a:latin typeface="Calibri"/>
              </a:rPr>
              <a:t>Prediction</a:t>
            </a:r>
            <a:endParaRPr lang="en-IN" sz="1800" b="0" u="none" strike="noStrike">
              <a:solidFill>
                <a:srgbClr val="000000"/>
              </a:solidFill>
              <a:effectLst/>
              <a:uFillTx/>
              <a:latin typeface="Arial"/>
            </a:endParaRPr>
          </a:p>
        </p:txBody>
      </p:sp>
      <p:sp>
        <p:nvSpPr>
          <p:cNvPr id="47" name="Group tables 2"/>
          <p:cNvSpPr/>
          <p:nvPr/>
        </p:nvSpPr>
        <p:spPr>
          <a:xfrm>
            <a:off x="3474720" y="2194560"/>
            <a:ext cx="2194200" cy="1691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recommendation</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scheduler_runs</a:t>
            </a:r>
            <a:endParaRPr lang="en-IN" sz="1400" b="0" u="none" strike="noStrike">
              <a:solidFill>
                <a:srgbClr val="000000"/>
              </a:solidFill>
              <a:effectLst/>
              <a:uFillTx/>
              <a:latin typeface="Arial"/>
            </a:endParaRPr>
          </a:p>
        </p:txBody>
      </p:sp>
      <p:sp>
        <p:nvSpPr>
          <p:cNvPr id="48" name="Group card 3"/>
          <p:cNvSpPr/>
          <p:nvPr/>
        </p:nvSpPr>
        <p:spPr>
          <a:xfrm>
            <a:off x="6035040" y="1463040"/>
            <a:ext cx="2559960" cy="2514240"/>
          </a:xfrm>
          <a:prstGeom prst="roundRect">
            <a:avLst>
              <a:gd name="adj" fmla="val 2909"/>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49" name="Group count 3"/>
          <p:cNvSpPr/>
          <p:nvPr/>
        </p:nvSpPr>
        <p:spPr>
          <a:xfrm>
            <a:off x="6217920" y="1554480"/>
            <a:ext cx="5482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accent2"/>
                </a:solidFill>
                <a:effectLst/>
                <a:uFillTx/>
                <a:latin typeface="Calibri"/>
              </a:rPr>
              <a:t>2</a:t>
            </a:r>
            <a:endParaRPr lang="en-IN" sz="3600" b="0" u="none" strike="noStrike">
              <a:solidFill>
                <a:srgbClr val="000000"/>
              </a:solidFill>
              <a:effectLst/>
              <a:uFillTx/>
              <a:latin typeface="Arial"/>
            </a:endParaRPr>
          </a:p>
        </p:txBody>
      </p:sp>
      <p:sp>
        <p:nvSpPr>
          <p:cNvPr id="50" name="Group name 3"/>
          <p:cNvSpPr/>
          <p:nvPr/>
        </p:nvSpPr>
        <p:spPr>
          <a:xfrm>
            <a:off x="6629400" y="1554480"/>
            <a:ext cx="18284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2"/>
                </a:solidFill>
                <a:effectLst/>
                <a:uFillTx/>
                <a:latin typeface="Calibri"/>
              </a:rPr>
              <a:t>Access control</a:t>
            </a:r>
            <a:endParaRPr lang="en-IN" sz="1800" b="0" u="none" strike="noStrike">
              <a:solidFill>
                <a:srgbClr val="000000"/>
              </a:solidFill>
              <a:effectLst/>
              <a:uFillTx/>
              <a:latin typeface="Arial"/>
            </a:endParaRPr>
          </a:p>
        </p:txBody>
      </p:sp>
      <p:sp>
        <p:nvSpPr>
          <p:cNvPr id="51" name="Group tables 3"/>
          <p:cNvSpPr/>
          <p:nvPr/>
        </p:nvSpPr>
        <p:spPr>
          <a:xfrm>
            <a:off x="6217920" y="2194560"/>
            <a:ext cx="2194200" cy="1691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app_users</a:t>
            </a:r>
            <a:endParaRPr lang="en-IN"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user_warehouse_access</a:t>
            </a:r>
            <a:endParaRPr lang="en-IN" sz="1400" b="0" u="none" strike="noStrike">
              <a:solidFill>
                <a:srgbClr val="000000"/>
              </a:solidFill>
              <a:effectLst/>
              <a:uFillTx/>
              <a:latin typeface="Arial"/>
            </a:endParaRPr>
          </a:p>
        </p:txBody>
      </p:sp>
      <p:sp>
        <p:nvSpPr>
          <p:cNvPr id="52" name="Key note"/>
          <p:cNvSpPr/>
          <p:nvPr/>
        </p:nvSpPr>
        <p:spPr>
          <a:xfrm>
            <a:off x="548640" y="4114800"/>
            <a:ext cx="804636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dk2"/>
                </a:solidFill>
                <a:effectLst/>
                <a:uFillTx/>
                <a:latin typeface="Calibri"/>
              </a:rPr>
              <a:t>Keys that matter: </a:t>
            </a:r>
            <a:r>
              <a:rPr lang="en-US" sz="1400" b="0" u="none" strike="noStrike">
                <a:solidFill>
                  <a:schemeClr val="dk1"/>
                </a:solidFill>
                <a:effectLst/>
                <a:uFillTx/>
                <a:latin typeface="Calibri"/>
              </a:rPr>
              <a:t>orders → order_items → product / warehouse.  recommendation is keyed by (product_id, warehouse_id, forecast_date), so a forecast cannot be duplicated.</a:t>
            </a:r>
            <a:endParaRPr lang="en-IN" sz="1400" b="0" u="none" strike="noStrike">
              <a:solidFill>
                <a:srgbClr val="000000"/>
              </a:solidFill>
              <a:effectLst/>
              <a:uFillTx/>
              <a:latin typeface="Arial"/>
            </a:endParaRPr>
          </a:p>
        </p:txBody>
      </p:sp>
      <p:sp>
        <p:nvSpPr>
          <p:cNvPr id="53" name="PlaceHolder 2"/>
          <p:cNvSpPr>
            <a:spLocks noGrp="1"/>
          </p:cNvSpPr>
          <p:nvPr>
            <p:ph type="sldNum" idx="6"/>
          </p:nvPr>
        </p:nvSpPr>
        <p:spPr>
          <a:xfrm>
            <a:off x="8046720" y="4709160"/>
            <a:ext cx="548280" cy="27396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rgbClr val="5F6B7A"/>
                </a:solidFill>
                <a:effectLst/>
                <a:uFillTx/>
                <a:latin typeface="Calibri"/>
              </a:defRPr>
            </a:lvl1pPr>
          </a:lstStyle>
          <a:p>
            <a:pPr indent="0" algn="r" defTabSz="914400">
              <a:lnSpc>
                <a:spcPct val="100000"/>
              </a:lnSpc>
              <a:buNone/>
            </a:pPr>
            <a:fld id="{03EDBCA1-0162-4B84-BF07-A2E80929DEE5}" type="slidenum">
              <a:rPr lang="en-US" sz="1200" b="0" u="none" strike="noStrike">
                <a:solidFill>
                  <a:srgbClr val="5F6B7A"/>
                </a:solidFill>
                <a:effectLst/>
                <a:uFillTx/>
                <a:latin typeface="Calibri"/>
              </a:rPr>
              <a:t>&lt;number&gt;</a:t>
            </a:fld>
            <a:endParaRPr lang="en-IN" sz="1200" b="0" u="none" strike="noStrike">
              <a:solidFill>
                <a:srgbClr val="000000"/>
              </a:solidFill>
              <a:effectLst/>
              <a:uFillTx/>
              <a:latin typeface="Times New Roman"/>
            </a:endParaRPr>
          </a:p>
        </p:txBody>
      </p:sp>
    </p:spTree>
  </p:cSld>
  <p:transition spd="slow">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hasCustomPrompt="1"/>
          </p:nvPr>
        </p:nvSpPr>
        <p:spPr>
          <a:xfrm>
            <a:off x="548640" y="320040"/>
            <a:ext cx="8046360" cy="6397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2"/>
                </a:solidFill>
                <a:effectLst/>
                <a:uFillTx/>
                <a:latin typeface="Cambria"/>
              </a:rPr>
              <a:t>Design: Architecture</a:t>
            </a:r>
            <a:endParaRPr lang="en-IN" sz="3200" b="0" u="none" strike="noStrike">
              <a:solidFill>
                <a:schemeClr val="dk1"/>
              </a:solidFill>
              <a:effectLst/>
              <a:uFillTx/>
              <a:latin typeface="Calibri"/>
            </a:endParaRPr>
          </a:p>
        </p:txBody>
      </p:sp>
      <p:sp>
        <p:nvSpPr>
          <p:cNvPr id="55" name="Subtitle"/>
          <p:cNvSpPr/>
          <p:nvPr/>
        </p:nvSpPr>
        <p:spPr>
          <a:xfrm>
            <a:off x="548640" y="960120"/>
            <a:ext cx="8046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5"/>
                </a:solidFill>
                <a:effectLst/>
                <a:uFillTx/>
                <a:latin typeface="Calibri"/>
              </a:rPr>
              <a:t>Four layers; forecasts are written back to the database</a:t>
            </a:r>
            <a:endParaRPr lang="en-IN" sz="1600" b="0" u="none" strike="noStrike">
              <a:solidFill>
                <a:srgbClr val="000000"/>
              </a:solidFill>
              <a:effectLst/>
              <a:uFillTx/>
              <a:latin typeface="Arial"/>
            </a:endParaRPr>
          </a:p>
        </p:txBody>
      </p:sp>
      <p:sp>
        <p:nvSpPr>
          <p:cNvPr id="56" name="Layer card 1"/>
          <p:cNvSpPr/>
          <p:nvPr/>
        </p:nvSpPr>
        <p:spPr>
          <a:xfrm>
            <a:off x="548640" y="1463040"/>
            <a:ext cx="1737000" cy="1371240"/>
          </a:xfrm>
          <a:prstGeom prst="roundRect">
            <a:avLst>
              <a:gd name="adj" fmla="val 5333"/>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57" name="Layer name 1"/>
          <p:cNvSpPr/>
          <p:nvPr/>
        </p:nvSpPr>
        <p:spPr>
          <a:xfrm>
            <a:off x="685800" y="1554480"/>
            <a:ext cx="14626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Prepare</a:t>
            </a:r>
            <a:endParaRPr lang="en-IN" sz="1800" b="0" u="none" strike="noStrike">
              <a:solidFill>
                <a:srgbClr val="000000"/>
              </a:solidFill>
              <a:effectLst/>
              <a:uFillTx/>
              <a:latin typeface="Arial"/>
            </a:endParaRPr>
          </a:p>
        </p:txBody>
      </p:sp>
      <p:sp>
        <p:nvSpPr>
          <p:cNvPr id="58" name="Layer tech 1"/>
          <p:cNvSpPr/>
          <p:nvPr/>
        </p:nvSpPr>
        <p:spPr>
          <a:xfrm>
            <a:off x="685800" y="1920240"/>
            <a:ext cx="150840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accent2"/>
                </a:solidFill>
                <a:effectLst/>
                <a:uFillTx/>
                <a:latin typeface="Calibri"/>
              </a:rPr>
              <a:t>Jupyter + Pandas</a:t>
            </a:r>
            <a:endParaRPr lang="en-IN" sz="1400" b="0" u="none" strike="noStrike">
              <a:solidFill>
                <a:srgbClr val="000000"/>
              </a:solidFill>
              <a:effectLst/>
              <a:uFillTx/>
              <a:latin typeface="Arial"/>
            </a:endParaRPr>
          </a:p>
        </p:txBody>
      </p:sp>
      <p:sp>
        <p:nvSpPr>
          <p:cNvPr id="59" name="Layer text 1"/>
          <p:cNvSpPr/>
          <p:nvPr/>
        </p:nvSpPr>
        <p:spPr>
          <a:xfrm>
            <a:off x="685800" y="2240280"/>
            <a:ext cx="1508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Clean and split the data</a:t>
            </a:r>
            <a:endParaRPr lang="en-IN" sz="1400" b="0" u="none" strike="noStrike">
              <a:solidFill>
                <a:srgbClr val="000000"/>
              </a:solidFill>
              <a:effectLst/>
              <a:uFillTx/>
              <a:latin typeface="Arial"/>
            </a:endParaRPr>
          </a:p>
        </p:txBody>
      </p:sp>
      <p:sp>
        <p:nvSpPr>
          <p:cNvPr id="60" name="Arrow 1"/>
          <p:cNvSpPr/>
          <p:nvPr/>
        </p:nvSpPr>
        <p:spPr>
          <a:xfrm>
            <a:off x="2359080" y="2011680"/>
            <a:ext cx="228240" cy="273960"/>
          </a:xfrm>
          <a:prstGeom prst="rightArrow">
            <a:avLst>
              <a:gd name="adj1" fmla="val 50000"/>
              <a:gd name="adj2" fmla="val 50000"/>
            </a:avLst>
          </a:prstGeom>
          <a:solidFill>
            <a:schemeClr val="accent5"/>
          </a:solidFill>
          <a:ln w="12700">
            <a:solidFill>
              <a:srgbClr val="5F6B7A"/>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61" name="Layer card 2"/>
          <p:cNvSpPr/>
          <p:nvPr/>
        </p:nvSpPr>
        <p:spPr>
          <a:xfrm>
            <a:off x="2651760" y="1463040"/>
            <a:ext cx="1737000" cy="1371240"/>
          </a:xfrm>
          <a:prstGeom prst="roundRect">
            <a:avLst>
              <a:gd name="adj" fmla="val 5333"/>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62" name="Layer name 2"/>
          <p:cNvSpPr/>
          <p:nvPr/>
        </p:nvSpPr>
        <p:spPr>
          <a:xfrm>
            <a:off x="2788920" y="1554480"/>
            <a:ext cx="14626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Store</a:t>
            </a:r>
            <a:endParaRPr lang="en-IN" sz="1800" b="0" u="none" strike="noStrike">
              <a:solidFill>
                <a:srgbClr val="000000"/>
              </a:solidFill>
              <a:effectLst/>
              <a:uFillTx/>
              <a:latin typeface="Arial"/>
            </a:endParaRPr>
          </a:p>
        </p:txBody>
      </p:sp>
      <p:sp>
        <p:nvSpPr>
          <p:cNvPr id="63" name="Layer tech 2"/>
          <p:cNvSpPr/>
          <p:nvPr/>
        </p:nvSpPr>
        <p:spPr>
          <a:xfrm>
            <a:off x="2788920" y="1920240"/>
            <a:ext cx="150840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accent2"/>
                </a:solidFill>
                <a:effectLst/>
                <a:uFillTx/>
                <a:latin typeface="Calibri"/>
              </a:rPr>
              <a:t>MariaDB</a:t>
            </a:r>
            <a:endParaRPr lang="en-IN" sz="1400" b="0" u="none" strike="noStrike">
              <a:solidFill>
                <a:srgbClr val="000000"/>
              </a:solidFill>
              <a:effectLst/>
              <a:uFillTx/>
              <a:latin typeface="Arial"/>
            </a:endParaRPr>
          </a:p>
        </p:txBody>
      </p:sp>
      <p:sp>
        <p:nvSpPr>
          <p:cNvPr id="64" name="Layer text 2"/>
          <p:cNvSpPr/>
          <p:nvPr/>
        </p:nvSpPr>
        <p:spPr>
          <a:xfrm>
            <a:off x="2788920" y="2240280"/>
            <a:ext cx="1508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Keys, joins, constraints</a:t>
            </a:r>
            <a:endParaRPr lang="en-IN" sz="1400" b="0" u="none" strike="noStrike">
              <a:solidFill>
                <a:srgbClr val="000000"/>
              </a:solidFill>
              <a:effectLst/>
              <a:uFillTx/>
              <a:latin typeface="Arial"/>
            </a:endParaRPr>
          </a:p>
        </p:txBody>
      </p:sp>
      <p:sp>
        <p:nvSpPr>
          <p:cNvPr id="65" name="Arrow 2"/>
          <p:cNvSpPr/>
          <p:nvPr/>
        </p:nvSpPr>
        <p:spPr>
          <a:xfrm>
            <a:off x="4462200" y="2011680"/>
            <a:ext cx="228240" cy="273960"/>
          </a:xfrm>
          <a:prstGeom prst="rightArrow">
            <a:avLst>
              <a:gd name="adj1" fmla="val 50000"/>
              <a:gd name="adj2" fmla="val 50000"/>
            </a:avLst>
          </a:prstGeom>
          <a:solidFill>
            <a:schemeClr val="accent5"/>
          </a:solidFill>
          <a:ln w="12700">
            <a:solidFill>
              <a:srgbClr val="5F6B7A"/>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66" name="Layer card 3"/>
          <p:cNvSpPr/>
          <p:nvPr/>
        </p:nvSpPr>
        <p:spPr>
          <a:xfrm>
            <a:off x="4754880" y="1463040"/>
            <a:ext cx="1737000" cy="1371240"/>
          </a:xfrm>
          <a:prstGeom prst="roundRect">
            <a:avLst>
              <a:gd name="adj" fmla="val 5333"/>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67" name="Layer name 3"/>
          <p:cNvSpPr/>
          <p:nvPr/>
        </p:nvSpPr>
        <p:spPr>
          <a:xfrm>
            <a:off x="4892040" y="1554480"/>
            <a:ext cx="14626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Serve</a:t>
            </a:r>
            <a:endParaRPr lang="en-IN" sz="1800" b="0" u="none" strike="noStrike">
              <a:solidFill>
                <a:srgbClr val="000000"/>
              </a:solidFill>
              <a:effectLst/>
              <a:uFillTx/>
              <a:latin typeface="Arial"/>
            </a:endParaRPr>
          </a:p>
        </p:txBody>
      </p:sp>
      <p:sp>
        <p:nvSpPr>
          <p:cNvPr id="68" name="Layer tech 3"/>
          <p:cNvSpPr/>
          <p:nvPr/>
        </p:nvSpPr>
        <p:spPr>
          <a:xfrm>
            <a:off x="4892040" y="1920240"/>
            <a:ext cx="150840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accent2"/>
                </a:solidFill>
                <a:effectLst/>
                <a:uFillTx/>
                <a:latin typeface="Calibri"/>
              </a:rPr>
              <a:t>FastAPI</a:t>
            </a:r>
            <a:endParaRPr lang="en-IN" sz="1400" b="0" u="none" strike="noStrike">
              <a:solidFill>
                <a:srgbClr val="000000"/>
              </a:solidFill>
              <a:effectLst/>
              <a:uFillTx/>
              <a:latin typeface="Arial"/>
            </a:endParaRPr>
          </a:p>
        </p:txBody>
      </p:sp>
      <p:sp>
        <p:nvSpPr>
          <p:cNvPr id="69" name="Layer text 3"/>
          <p:cNvSpPr/>
          <p:nvPr/>
        </p:nvSpPr>
        <p:spPr>
          <a:xfrm>
            <a:off x="4892040" y="2240280"/>
            <a:ext cx="1508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APIs with login and roles</a:t>
            </a:r>
            <a:endParaRPr lang="en-IN" sz="1400" b="0" u="none" strike="noStrike">
              <a:solidFill>
                <a:srgbClr val="000000"/>
              </a:solidFill>
              <a:effectLst/>
              <a:uFillTx/>
              <a:latin typeface="Arial"/>
            </a:endParaRPr>
          </a:p>
        </p:txBody>
      </p:sp>
      <p:sp>
        <p:nvSpPr>
          <p:cNvPr id="70" name="Arrow 3"/>
          <p:cNvSpPr/>
          <p:nvPr/>
        </p:nvSpPr>
        <p:spPr>
          <a:xfrm>
            <a:off x="6565320" y="2011680"/>
            <a:ext cx="228240" cy="273960"/>
          </a:xfrm>
          <a:prstGeom prst="rightArrow">
            <a:avLst>
              <a:gd name="adj1" fmla="val 50000"/>
              <a:gd name="adj2" fmla="val 50000"/>
            </a:avLst>
          </a:prstGeom>
          <a:solidFill>
            <a:schemeClr val="accent5"/>
          </a:solidFill>
          <a:ln w="12700">
            <a:solidFill>
              <a:srgbClr val="5F6B7A"/>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71" name="Layer card 4"/>
          <p:cNvSpPr/>
          <p:nvPr/>
        </p:nvSpPr>
        <p:spPr>
          <a:xfrm>
            <a:off x="6858000" y="1463040"/>
            <a:ext cx="1737000" cy="1371240"/>
          </a:xfrm>
          <a:prstGeom prst="roundRect">
            <a:avLst>
              <a:gd name="adj" fmla="val 5333"/>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72" name="Layer name 4"/>
          <p:cNvSpPr/>
          <p:nvPr/>
        </p:nvSpPr>
        <p:spPr>
          <a:xfrm>
            <a:off x="6995160" y="1554480"/>
            <a:ext cx="14626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Visualize</a:t>
            </a:r>
            <a:endParaRPr lang="en-IN" sz="1800" b="0" u="none" strike="noStrike">
              <a:solidFill>
                <a:srgbClr val="000000"/>
              </a:solidFill>
              <a:effectLst/>
              <a:uFillTx/>
              <a:latin typeface="Arial"/>
            </a:endParaRPr>
          </a:p>
        </p:txBody>
      </p:sp>
      <p:sp>
        <p:nvSpPr>
          <p:cNvPr id="73" name="Layer tech 4"/>
          <p:cNvSpPr/>
          <p:nvPr/>
        </p:nvSpPr>
        <p:spPr>
          <a:xfrm>
            <a:off x="6995160" y="1920240"/>
            <a:ext cx="150840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chemeClr val="accent2"/>
                </a:solidFill>
                <a:effectLst/>
                <a:uFillTx/>
                <a:latin typeface="Calibri"/>
              </a:rPr>
              <a:t>Streamlit</a:t>
            </a:r>
            <a:endParaRPr lang="en-IN" sz="1400" b="0" u="none" strike="noStrike">
              <a:solidFill>
                <a:srgbClr val="000000"/>
              </a:solidFill>
              <a:effectLst/>
              <a:uFillTx/>
              <a:latin typeface="Arial"/>
            </a:endParaRPr>
          </a:p>
        </p:txBody>
      </p:sp>
      <p:sp>
        <p:nvSpPr>
          <p:cNvPr id="74" name="Layer text 4"/>
          <p:cNvSpPr/>
          <p:nvPr/>
        </p:nvSpPr>
        <p:spPr>
          <a:xfrm>
            <a:off x="6995160" y="2240280"/>
            <a:ext cx="150840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Dashboard pages</a:t>
            </a:r>
            <a:endParaRPr lang="en-IN" sz="1400" b="0" u="none" strike="noStrike">
              <a:solidFill>
                <a:srgbClr val="000000"/>
              </a:solidFill>
              <a:effectLst/>
              <a:uFillTx/>
              <a:latin typeface="Arial"/>
            </a:endParaRPr>
          </a:p>
        </p:txBody>
      </p:sp>
      <p:sp>
        <p:nvSpPr>
          <p:cNvPr id="75" name="Forecast card"/>
          <p:cNvSpPr/>
          <p:nvPr/>
        </p:nvSpPr>
        <p:spPr>
          <a:xfrm>
            <a:off x="548640" y="3063240"/>
            <a:ext cx="8046360" cy="1554120"/>
          </a:xfrm>
          <a:prstGeom prst="roundRect">
            <a:avLst>
              <a:gd name="adj" fmla="val 4706"/>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76" name="Forecast heading"/>
          <p:cNvSpPr/>
          <p:nvPr/>
        </p:nvSpPr>
        <p:spPr>
          <a:xfrm>
            <a:off x="777240" y="3200400"/>
            <a:ext cx="75891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Forecasting runs as a separate scheduled job</a:t>
            </a:r>
            <a:endParaRPr lang="en-IN" sz="1800" b="0" u="none" strike="noStrike">
              <a:solidFill>
                <a:srgbClr val="000000"/>
              </a:solidFill>
              <a:effectLst/>
              <a:uFillTx/>
              <a:latin typeface="Arial"/>
            </a:endParaRPr>
          </a:p>
        </p:txBody>
      </p:sp>
      <p:sp>
        <p:nvSpPr>
          <p:cNvPr id="77" name="Forecast points"/>
          <p:cNvSpPr/>
          <p:nvPr/>
        </p:nvSpPr>
        <p:spPr>
          <a:xfrm>
            <a:off x="777240" y="3566160"/>
            <a:ext cx="7589160" cy="9597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400"/>
              </a:spcAft>
              <a:buClr>
                <a:srgbClr val="1F2937"/>
              </a:buClr>
              <a:buFont typeface="Symbol" charset="2"/>
              <a:buChar char=""/>
            </a:pPr>
            <a:r>
              <a:rPr lang="en-US" sz="1400" b="0" u="none" strike="noStrike">
                <a:solidFill>
                  <a:schemeClr val="dk1"/>
                </a:solidFill>
                <a:effectLst/>
                <a:uFillTx/>
                <a:latin typeface="Calibri"/>
              </a:rPr>
              <a:t>Uses the last one year’s orders; compares SES and LightGBM on an 8-week holdout</a:t>
            </a:r>
            <a:endParaRPr lang="en-IN" sz="1400" b="0" u="none" strike="noStrike">
              <a:solidFill>
                <a:srgbClr val="000000"/>
              </a:solidFill>
              <a:effectLst/>
              <a:uFillTx/>
              <a:latin typeface="Arial"/>
            </a:endParaRPr>
          </a:p>
          <a:p>
            <a:pPr marL="343080" indent="-343080" defTabSz="914400">
              <a:lnSpc>
                <a:spcPct val="100000"/>
              </a:lnSpc>
              <a:spcAft>
                <a:spcPts val="400"/>
              </a:spcAft>
              <a:buClr>
                <a:srgbClr val="1F2937"/>
              </a:buClr>
              <a:buFont typeface="Symbol" charset="2"/>
              <a:buChar char=""/>
            </a:pPr>
            <a:r>
              <a:rPr lang="en-US" sz="1400" b="0" u="none" strike="noStrike">
                <a:solidFill>
                  <a:schemeClr val="dk1"/>
                </a:solidFill>
                <a:effectLst/>
                <a:uFillTx/>
                <a:latin typeface="Calibri"/>
              </a:rPr>
              <a:t>Forecasts the next 4 weeks, then sets safety stock, reorder quantity and a status</a:t>
            </a:r>
            <a:endParaRPr lang="en-IN" sz="1400" b="0" u="none" strike="noStrike">
              <a:solidFill>
                <a:srgbClr val="000000"/>
              </a:solidFill>
              <a:effectLst/>
              <a:uFillTx/>
              <a:latin typeface="Arial"/>
            </a:endParaRPr>
          </a:p>
          <a:p>
            <a:pPr marL="343080" indent="-343080" defTabSz="914400">
              <a:lnSpc>
                <a:spcPct val="100000"/>
              </a:lnSpc>
              <a:spcAft>
                <a:spcPts val="400"/>
              </a:spcAft>
              <a:buClr>
                <a:srgbClr val="1F2937"/>
              </a:buClr>
              <a:buFont typeface="Symbol" charset="2"/>
              <a:buChar char=""/>
            </a:pPr>
            <a:r>
              <a:rPr lang="en-US" sz="1400" b="0" u="none" strike="noStrike">
                <a:solidFill>
                  <a:schemeClr val="dk1"/>
                </a:solidFill>
                <a:effectLst/>
                <a:uFillTx/>
                <a:latin typeface="Calibri"/>
              </a:rPr>
              <a:t>Login uses bcrypt + JWT: an Admin sees all warehouses, a Manager only their own</a:t>
            </a:r>
            <a:endParaRPr lang="en-IN" sz="1400" b="0" u="none" strike="noStrike">
              <a:solidFill>
                <a:srgbClr val="000000"/>
              </a:solidFill>
              <a:effectLst/>
              <a:uFillTx/>
              <a:latin typeface="Arial"/>
            </a:endParaRPr>
          </a:p>
        </p:txBody>
      </p:sp>
      <p:sp>
        <p:nvSpPr>
          <p:cNvPr id="78" name="PlaceHolder 2"/>
          <p:cNvSpPr>
            <a:spLocks noGrp="1"/>
          </p:cNvSpPr>
          <p:nvPr>
            <p:ph type="sldNum" idx="7"/>
          </p:nvPr>
        </p:nvSpPr>
        <p:spPr>
          <a:xfrm>
            <a:off x="8046720" y="4709160"/>
            <a:ext cx="548280" cy="27396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rgbClr val="5F6B7A"/>
                </a:solidFill>
                <a:effectLst/>
                <a:uFillTx/>
                <a:latin typeface="Calibri"/>
              </a:defRPr>
            </a:lvl1pPr>
          </a:lstStyle>
          <a:p>
            <a:pPr indent="0" algn="r" defTabSz="914400">
              <a:lnSpc>
                <a:spcPct val="100000"/>
              </a:lnSpc>
              <a:buNone/>
            </a:pPr>
            <a:fld id="{7B8E68FD-4EE7-46F9-8DA3-927FA40E1544}" type="slidenum">
              <a:rPr lang="en-US" sz="1200" b="0" u="none" strike="noStrike">
                <a:solidFill>
                  <a:srgbClr val="5F6B7A"/>
                </a:solidFill>
                <a:effectLst/>
                <a:uFillTx/>
                <a:latin typeface="Calibri"/>
              </a:rPr>
              <a:t>&lt;number&gt;</a:t>
            </a:fld>
            <a:endParaRPr lang="en-IN" sz="1200" b="0" u="none" strike="noStrike">
              <a:solidFill>
                <a:srgbClr val="000000"/>
              </a:solidFill>
              <a:effectLst/>
              <a:uFillTx/>
              <a:latin typeface="Times New Roman"/>
            </a:endParaRPr>
          </a:p>
        </p:txBody>
      </p:sp>
    </p:spTree>
  </p:cSld>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hasCustomPrompt="1"/>
          </p:nvPr>
        </p:nvSpPr>
        <p:spPr>
          <a:xfrm>
            <a:off x="548640" y="320040"/>
            <a:ext cx="8046360" cy="6397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2"/>
                </a:solidFill>
                <a:effectLst/>
                <a:uFillTx/>
                <a:latin typeface="Cambria"/>
              </a:rPr>
              <a:t>Technology Used</a:t>
            </a:r>
            <a:endParaRPr lang="en-IN" sz="3200" b="0" u="none" strike="noStrike">
              <a:solidFill>
                <a:schemeClr val="dk1"/>
              </a:solidFill>
              <a:effectLst/>
              <a:uFillTx/>
              <a:latin typeface="Calibri"/>
            </a:endParaRPr>
          </a:p>
        </p:txBody>
      </p:sp>
      <p:sp>
        <p:nvSpPr>
          <p:cNvPr id="80" name="Subtitle"/>
          <p:cNvSpPr/>
          <p:nvPr/>
        </p:nvSpPr>
        <p:spPr>
          <a:xfrm>
            <a:off x="548640" y="960120"/>
            <a:ext cx="8046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5"/>
                </a:solidFill>
                <a:effectLst/>
                <a:uFillTx/>
                <a:latin typeface="Calibri"/>
              </a:rPr>
              <a:t>Each tool has one clear job</a:t>
            </a:r>
            <a:endParaRPr lang="en-IN" sz="1600" b="0" u="none" strike="noStrike">
              <a:solidFill>
                <a:srgbClr val="000000"/>
              </a:solidFill>
              <a:effectLst/>
              <a:uFillTx/>
              <a:latin typeface="Arial"/>
            </a:endParaRPr>
          </a:p>
        </p:txBody>
      </p:sp>
      <p:sp>
        <p:nvSpPr>
          <p:cNvPr id="81" name="Tech card 1"/>
          <p:cNvSpPr/>
          <p:nvPr/>
        </p:nvSpPr>
        <p:spPr>
          <a:xfrm>
            <a:off x="548640" y="1463040"/>
            <a:ext cx="1828440" cy="1416960"/>
          </a:xfrm>
          <a:prstGeom prst="roundRect">
            <a:avLst>
              <a:gd name="adj" fmla="val 5161"/>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82" name="Tech label 1"/>
          <p:cNvSpPr/>
          <p:nvPr/>
        </p:nvSpPr>
        <p:spPr>
          <a:xfrm>
            <a:off x="685800" y="1600200"/>
            <a:ext cx="1599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accent2"/>
                </a:solidFill>
                <a:effectLst/>
                <a:uFillTx/>
                <a:latin typeface="Calibri"/>
              </a:rPr>
              <a:t>DATA PREPARATION</a:t>
            </a:r>
            <a:endParaRPr lang="en-IN" sz="1200" b="0" u="none" strike="noStrike">
              <a:solidFill>
                <a:srgbClr val="000000"/>
              </a:solidFill>
              <a:effectLst/>
              <a:uFillTx/>
              <a:latin typeface="Arial"/>
            </a:endParaRPr>
          </a:p>
        </p:txBody>
      </p:sp>
      <p:sp>
        <p:nvSpPr>
          <p:cNvPr id="83" name="Tech tools 1"/>
          <p:cNvSpPr/>
          <p:nvPr/>
        </p:nvSpPr>
        <p:spPr>
          <a:xfrm>
            <a:off x="685800" y="1920240"/>
            <a:ext cx="159984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Python</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Pandas</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Jupyter</a:t>
            </a:r>
            <a:endParaRPr lang="en-IN" sz="1600" b="0" u="none" strike="noStrike">
              <a:solidFill>
                <a:srgbClr val="000000"/>
              </a:solidFill>
              <a:effectLst/>
              <a:uFillTx/>
              <a:latin typeface="Arial"/>
            </a:endParaRPr>
          </a:p>
        </p:txBody>
      </p:sp>
      <p:sp>
        <p:nvSpPr>
          <p:cNvPr id="84" name="Tech card 2"/>
          <p:cNvSpPr/>
          <p:nvPr/>
        </p:nvSpPr>
        <p:spPr>
          <a:xfrm>
            <a:off x="2560320" y="1463040"/>
            <a:ext cx="1828440" cy="1416960"/>
          </a:xfrm>
          <a:prstGeom prst="roundRect">
            <a:avLst>
              <a:gd name="adj" fmla="val 5161"/>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85" name="Tech label 2"/>
          <p:cNvSpPr/>
          <p:nvPr/>
        </p:nvSpPr>
        <p:spPr>
          <a:xfrm>
            <a:off x="2697480" y="1600200"/>
            <a:ext cx="1599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accent2"/>
                </a:solidFill>
                <a:effectLst/>
                <a:uFillTx/>
                <a:latin typeface="Calibri"/>
              </a:rPr>
              <a:t>DATABASE</a:t>
            </a:r>
            <a:endParaRPr lang="en-IN" sz="1200" b="0" u="none" strike="noStrike">
              <a:solidFill>
                <a:srgbClr val="000000"/>
              </a:solidFill>
              <a:effectLst/>
              <a:uFillTx/>
              <a:latin typeface="Arial"/>
            </a:endParaRPr>
          </a:p>
        </p:txBody>
      </p:sp>
      <p:sp>
        <p:nvSpPr>
          <p:cNvPr id="86" name="Tech tools 2"/>
          <p:cNvSpPr/>
          <p:nvPr/>
        </p:nvSpPr>
        <p:spPr>
          <a:xfrm>
            <a:off x="2697480" y="1920240"/>
            <a:ext cx="159984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MariaDB</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SQL</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TailScale</a:t>
            </a:r>
            <a:endParaRPr lang="en-IN" sz="1600" b="0" u="none" strike="noStrike">
              <a:solidFill>
                <a:srgbClr val="000000"/>
              </a:solidFill>
              <a:effectLst/>
              <a:uFillTx/>
              <a:latin typeface="Arial"/>
            </a:endParaRPr>
          </a:p>
        </p:txBody>
      </p:sp>
      <p:sp>
        <p:nvSpPr>
          <p:cNvPr id="87" name="Tech card 3"/>
          <p:cNvSpPr/>
          <p:nvPr/>
        </p:nvSpPr>
        <p:spPr>
          <a:xfrm>
            <a:off x="4572000" y="1463040"/>
            <a:ext cx="1828440" cy="1416960"/>
          </a:xfrm>
          <a:prstGeom prst="roundRect">
            <a:avLst>
              <a:gd name="adj" fmla="val 5161"/>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88" name="Tech label 3"/>
          <p:cNvSpPr/>
          <p:nvPr/>
        </p:nvSpPr>
        <p:spPr>
          <a:xfrm>
            <a:off x="4709160" y="1600200"/>
            <a:ext cx="1599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accent2"/>
                </a:solidFill>
                <a:effectLst/>
                <a:uFillTx/>
                <a:latin typeface="Calibri"/>
              </a:rPr>
              <a:t>BACKEND</a:t>
            </a:r>
            <a:endParaRPr lang="en-IN" sz="1200" b="0" u="none" strike="noStrike">
              <a:solidFill>
                <a:srgbClr val="000000"/>
              </a:solidFill>
              <a:effectLst/>
              <a:uFillTx/>
              <a:latin typeface="Arial"/>
            </a:endParaRPr>
          </a:p>
        </p:txBody>
      </p:sp>
      <p:sp>
        <p:nvSpPr>
          <p:cNvPr id="89" name="Tech tools 3"/>
          <p:cNvSpPr/>
          <p:nvPr/>
        </p:nvSpPr>
        <p:spPr>
          <a:xfrm>
            <a:off x="4709160" y="1920240"/>
            <a:ext cx="159984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FastAPI</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SQLAlchemy</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Pydantic</a:t>
            </a:r>
            <a:endParaRPr lang="en-IN" sz="1600" b="0" u="none" strike="noStrike">
              <a:solidFill>
                <a:srgbClr val="000000"/>
              </a:solidFill>
              <a:effectLst/>
              <a:uFillTx/>
              <a:latin typeface="Arial"/>
            </a:endParaRPr>
          </a:p>
        </p:txBody>
      </p:sp>
      <p:sp>
        <p:nvSpPr>
          <p:cNvPr id="90" name="Tech card 4"/>
          <p:cNvSpPr/>
          <p:nvPr/>
        </p:nvSpPr>
        <p:spPr>
          <a:xfrm>
            <a:off x="6583680" y="1463040"/>
            <a:ext cx="1828440" cy="1416960"/>
          </a:xfrm>
          <a:prstGeom prst="roundRect">
            <a:avLst>
              <a:gd name="adj" fmla="val 5161"/>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91" name="Tech label 4"/>
          <p:cNvSpPr/>
          <p:nvPr/>
        </p:nvSpPr>
        <p:spPr>
          <a:xfrm>
            <a:off x="6720840" y="1600200"/>
            <a:ext cx="1599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accent2"/>
                </a:solidFill>
                <a:effectLst/>
                <a:uFillTx/>
                <a:latin typeface="Calibri"/>
              </a:rPr>
              <a:t>SECURITY</a:t>
            </a:r>
            <a:endParaRPr lang="en-IN" sz="1200" b="0" u="none" strike="noStrike">
              <a:solidFill>
                <a:srgbClr val="000000"/>
              </a:solidFill>
              <a:effectLst/>
              <a:uFillTx/>
              <a:latin typeface="Arial"/>
            </a:endParaRPr>
          </a:p>
        </p:txBody>
      </p:sp>
      <p:sp>
        <p:nvSpPr>
          <p:cNvPr id="92" name="Tech tools 4"/>
          <p:cNvSpPr/>
          <p:nvPr/>
        </p:nvSpPr>
        <p:spPr>
          <a:xfrm>
            <a:off x="6720840" y="1920240"/>
            <a:ext cx="159984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bcrypt</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JWT (PyJWT)</a:t>
            </a:r>
            <a:endParaRPr lang="en-IN" sz="1600" b="0" u="none" strike="noStrike">
              <a:solidFill>
                <a:srgbClr val="000000"/>
              </a:solidFill>
              <a:effectLst/>
              <a:uFillTx/>
              <a:latin typeface="Arial"/>
            </a:endParaRPr>
          </a:p>
        </p:txBody>
      </p:sp>
      <p:sp>
        <p:nvSpPr>
          <p:cNvPr id="93" name="Tech card 5"/>
          <p:cNvSpPr/>
          <p:nvPr/>
        </p:nvSpPr>
        <p:spPr>
          <a:xfrm>
            <a:off x="548640" y="3063240"/>
            <a:ext cx="1828440" cy="1416960"/>
          </a:xfrm>
          <a:prstGeom prst="roundRect">
            <a:avLst>
              <a:gd name="adj" fmla="val 5161"/>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94" name="Tech label 5"/>
          <p:cNvSpPr/>
          <p:nvPr/>
        </p:nvSpPr>
        <p:spPr>
          <a:xfrm>
            <a:off x="685800" y="3200400"/>
            <a:ext cx="1599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accent2"/>
                </a:solidFill>
                <a:effectLst/>
                <a:uFillTx/>
                <a:latin typeface="Calibri"/>
              </a:rPr>
              <a:t>FORECASTING</a:t>
            </a:r>
            <a:endParaRPr lang="en-IN" sz="1200" b="0" u="none" strike="noStrike">
              <a:solidFill>
                <a:srgbClr val="000000"/>
              </a:solidFill>
              <a:effectLst/>
              <a:uFillTx/>
              <a:latin typeface="Arial"/>
            </a:endParaRPr>
          </a:p>
        </p:txBody>
      </p:sp>
      <p:sp>
        <p:nvSpPr>
          <p:cNvPr id="95" name="Tech tools 5"/>
          <p:cNvSpPr/>
          <p:nvPr/>
        </p:nvSpPr>
        <p:spPr>
          <a:xfrm>
            <a:off x="685800" y="3520440"/>
            <a:ext cx="159984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statsmodels</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LightGBM</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scikit-learn</a:t>
            </a:r>
            <a:endParaRPr lang="en-IN" sz="1600" b="0" u="none" strike="noStrike">
              <a:solidFill>
                <a:srgbClr val="000000"/>
              </a:solidFill>
              <a:effectLst/>
              <a:uFillTx/>
              <a:latin typeface="Arial"/>
            </a:endParaRPr>
          </a:p>
        </p:txBody>
      </p:sp>
      <p:sp>
        <p:nvSpPr>
          <p:cNvPr id="96" name="Tech card 6"/>
          <p:cNvSpPr/>
          <p:nvPr/>
        </p:nvSpPr>
        <p:spPr>
          <a:xfrm>
            <a:off x="2560320" y="3063240"/>
            <a:ext cx="1828440" cy="1416960"/>
          </a:xfrm>
          <a:prstGeom prst="roundRect">
            <a:avLst>
              <a:gd name="adj" fmla="val 5161"/>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97" name="Tech label 6"/>
          <p:cNvSpPr/>
          <p:nvPr/>
        </p:nvSpPr>
        <p:spPr>
          <a:xfrm>
            <a:off x="2697480" y="3200400"/>
            <a:ext cx="1599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accent2"/>
                </a:solidFill>
                <a:effectLst/>
                <a:uFillTx/>
                <a:latin typeface="Calibri"/>
              </a:rPr>
              <a:t>AUTOMATION</a:t>
            </a:r>
            <a:endParaRPr lang="en-IN" sz="1200" b="0" u="none" strike="noStrike">
              <a:solidFill>
                <a:srgbClr val="000000"/>
              </a:solidFill>
              <a:effectLst/>
              <a:uFillTx/>
              <a:latin typeface="Arial"/>
            </a:endParaRPr>
          </a:p>
        </p:txBody>
      </p:sp>
      <p:sp>
        <p:nvSpPr>
          <p:cNvPr id="98" name="Tech tools 6"/>
          <p:cNvSpPr/>
          <p:nvPr/>
        </p:nvSpPr>
        <p:spPr>
          <a:xfrm>
            <a:off x="2697480" y="3520440"/>
            <a:ext cx="159984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APScheduler</a:t>
            </a:r>
            <a:endParaRPr lang="en-IN" sz="1600" b="0" u="none" strike="noStrike">
              <a:solidFill>
                <a:srgbClr val="000000"/>
              </a:solidFill>
              <a:effectLst/>
              <a:uFillTx/>
              <a:latin typeface="Arial"/>
            </a:endParaRPr>
          </a:p>
        </p:txBody>
      </p:sp>
      <p:sp>
        <p:nvSpPr>
          <p:cNvPr id="99" name="Tech card 7"/>
          <p:cNvSpPr/>
          <p:nvPr/>
        </p:nvSpPr>
        <p:spPr>
          <a:xfrm>
            <a:off x="4572000" y="3063240"/>
            <a:ext cx="1828440" cy="1416960"/>
          </a:xfrm>
          <a:prstGeom prst="roundRect">
            <a:avLst>
              <a:gd name="adj" fmla="val 5161"/>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100" name="Tech label 7"/>
          <p:cNvSpPr/>
          <p:nvPr/>
        </p:nvSpPr>
        <p:spPr>
          <a:xfrm>
            <a:off x="4709160" y="3200400"/>
            <a:ext cx="1599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accent2"/>
                </a:solidFill>
                <a:effectLst/>
                <a:uFillTx/>
                <a:latin typeface="Calibri"/>
              </a:rPr>
              <a:t>FRONTEND</a:t>
            </a:r>
            <a:endParaRPr lang="en-IN" sz="1200" b="0" u="none" strike="noStrike">
              <a:solidFill>
                <a:srgbClr val="000000"/>
              </a:solidFill>
              <a:effectLst/>
              <a:uFillTx/>
              <a:latin typeface="Arial"/>
            </a:endParaRPr>
          </a:p>
        </p:txBody>
      </p:sp>
      <p:sp>
        <p:nvSpPr>
          <p:cNvPr id="101" name="Tech tools 7"/>
          <p:cNvSpPr/>
          <p:nvPr/>
        </p:nvSpPr>
        <p:spPr>
          <a:xfrm>
            <a:off x="4709160" y="3520440"/>
            <a:ext cx="159984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Streamlit</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Requests</a:t>
            </a:r>
            <a:endParaRPr lang="en-IN" sz="1600" b="0" u="none" strike="noStrike">
              <a:solidFill>
                <a:srgbClr val="000000"/>
              </a:solidFill>
              <a:effectLst/>
              <a:uFillTx/>
              <a:latin typeface="Arial"/>
            </a:endParaRPr>
          </a:p>
        </p:txBody>
      </p:sp>
      <p:sp>
        <p:nvSpPr>
          <p:cNvPr id="102" name="Tech card 8"/>
          <p:cNvSpPr/>
          <p:nvPr/>
        </p:nvSpPr>
        <p:spPr>
          <a:xfrm>
            <a:off x="6583680" y="3063240"/>
            <a:ext cx="1828440" cy="1416960"/>
          </a:xfrm>
          <a:prstGeom prst="roundRect">
            <a:avLst>
              <a:gd name="adj" fmla="val 5161"/>
            </a:avLst>
          </a:prstGeom>
          <a:solidFill>
            <a:schemeClr val="bg2"/>
          </a:solidFill>
          <a:ln w="12700">
            <a:solidFill>
              <a:srgbClr val="EEF3F8"/>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103" name="Tech label 8"/>
          <p:cNvSpPr/>
          <p:nvPr/>
        </p:nvSpPr>
        <p:spPr>
          <a:xfrm>
            <a:off x="6720840" y="3200400"/>
            <a:ext cx="159984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chemeClr val="accent2"/>
                </a:solidFill>
                <a:effectLst/>
                <a:uFillTx/>
                <a:latin typeface="Calibri"/>
              </a:rPr>
              <a:t>TEAMWORK</a:t>
            </a:r>
            <a:endParaRPr lang="en-IN" sz="1200" b="0" u="none" strike="noStrike">
              <a:solidFill>
                <a:srgbClr val="000000"/>
              </a:solidFill>
              <a:effectLst/>
              <a:uFillTx/>
              <a:latin typeface="Arial"/>
            </a:endParaRPr>
          </a:p>
        </p:txBody>
      </p:sp>
      <p:sp>
        <p:nvSpPr>
          <p:cNvPr id="104" name="Tech tools 8"/>
          <p:cNvSpPr/>
          <p:nvPr/>
        </p:nvSpPr>
        <p:spPr>
          <a:xfrm>
            <a:off x="6720840" y="3520440"/>
            <a:ext cx="159984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Git</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2"/>
                </a:solidFill>
                <a:effectLst/>
                <a:uFillTx/>
                <a:latin typeface="Calibri"/>
              </a:rPr>
              <a:t>GitHub</a:t>
            </a:r>
            <a:endParaRPr lang="en-IN" sz="1600" b="0" u="none" strike="noStrike">
              <a:solidFill>
                <a:srgbClr val="000000"/>
              </a:solidFill>
              <a:effectLst/>
              <a:uFillTx/>
              <a:latin typeface="Arial"/>
            </a:endParaRPr>
          </a:p>
        </p:txBody>
      </p:sp>
      <p:sp>
        <p:nvSpPr>
          <p:cNvPr id="105" name="PlaceHolder 2"/>
          <p:cNvSpPr>
            <a:spLocks noGrp="1"/>
          </p:cNvSpPr>
          <p:nvPr>
            <p:ph type="sldNum" idx="8"/>
          </p:nvPr>
        </p:nvSpPr>
        <p:spPr>
          <a:xfrm>
            <a:off x="8046720" y="4709160"/>
            <a:ext cx="548280" cy="27396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rgbClr val="5F6B7A"/>
                </a:solidFill>
                <a:effectLst/>
                <a:uFillTx/>
                <a:latin typeface="Calibri"/>
              </a:defRPr>
            </a:lvl1pPr>
          </a:lstStyle>
          <a:p>
            <a:pPr indent="0" algn="r" defTabSz="914400">
              <a:lnSpc>
                <a:spcPct val="100000"/>
              </a:lnSpc>
              <a:buNone/>
            </a:pPr>
            <a:fld id="{6BE033BB-4661-4532-986A-3EFB974D5D58}" type="slidenum">
              <a:rPr lang="en-US" sz="1200" b="0" u="none" strike="noStrike">
                <a:solidFill>
                  <a:srgbClr val="5F6B7A"/>
                </a:solidFill>
                <a:effectLst/>
                <a:uFillTx/>
                <a:latin typeface="Calibri"/>
              </a:rPr>
              <a:t>&lt;number&gt;</a:t>
            </a:fld>
            <a:endParaRPr lang="en-IN" sz="1200" b="0" u="none" strike="noStrike">
              <a:solidFill>
                <a:srgbClr val="000000"/>
              </a:solidFill>
              <a:effectLst/>
              <a:uFillTx/>
              <a:latin typeface="Times New Roman"/>
            </a:endParaRPr>
          </a:p>
        </p:txBody>
      </p:sp>
    </p:spTree>
  </p:cSld>
  <p:transition spd="slow">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hasCustomPrompt="1"/>
          </p:nvPr>
        </p:nvSpPr>
        <p:spPr>
          <a:xfrm>
            <a:off x="548640" y="320040"/>
            <a:ext cx="8046360" cy="6397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dk2"/>
                </a:solidFill>
                <a:effectLst/>
                <a:uFillTx/>
                <a:latin typeface="Cambria"/>
              </a:rPr>
              <a:t>Demo</a:t>
            </a:r>
            <a:endParaRPr lang="en-IN" sz="3200" b="0" u="none" strike="noStrike">
              <a:solidFill>
                <a:schemeClr val="dk1"/>
              </a:solidFill>
              <a:effectLst/>
              <a:uFillTx/>
              <a:latin typeface="Calibri"/>
            </a:endParaRPr>
          </a:p>
        </p:txBody>
      </p:sp>
      <p:sp>
        <p:nvSpPr>
          <p:cNvPr id="107" name="Subtitle"/>
          <p:cNvSpPr/>
          <p:nvPr/>
        </p:nvSpPr>
        <p:spPr>
          <a:xfrm>
            <a:off x="548640" y="960120"/>
            <a:ext cx="8046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chemeClr val="accent5"/>
                </a:solidFill>
                <a:effectLst/>
                <a:uFillTx/>
                <a:latin typeface="Calibri"/>
              </a:rPr>
              <a:t>Live walkthrough of the Streamlit app</a:t>
            </a:r>
            <a:endParaRPr lang="en-IN" sz="1600" b="0" u="none" strike="noStrike">
              <a:solidFill>
                <a:srgbClr val="000000"/>
              </a:solidFill>
              <a:effectLst/>
              <a:uFillTx/>
              <a:latin typeface="Arial"/>
            </a:endParaRPr>
          </a:p>
        </p:txBody>
      </p:sp>
      <p:sp>
        <p:nvSpPr>
          <p:cNvPr id="108" name="Step number 1"/>
          <p:cNvSpPr/>
          <p:nvPr/>
        </p:nvSpPr>
        <p:spPr>
          <a:xfrm>
            <a:off x="548640" y="152712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1</a:t>
            </a:r>
            <a:endParaRPr lang="en-IN" sz="1600" b="0" u="none" strike="noStrike">
              <a:solidFill>
                <a:srgbClr val="FFFFFF"/>
              </a:solidFill>
              <a:effectLst/>
              <a:uFillTx/>
              <a:latin typeface="Arial"/>
            </a:endParaRPr>
          </a:p>
        </p:txBody>
      </p:sp>
      <p:sp>
        <p:nvSpPr>
          <p:cNvPr id="109" name="Step title 1"/>
          <p:cNvSpPr/>
          <p:nvPr/>
        </p:nvSpPr>
        <p:spPr>
          <a:xfrm>
            <a:off x="1188720" y="1508760"/>
            <a:ext cx="4297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Log in as a Manager</a:t>
            </a:r>
            <a:endParaRPr lang="en-IN" sz="1800" b="0" u="none" strike="noStrike">
              <a:solidFill>
                <a:srgbClr val="000000"/>
              </a:solidFill>
              <a:effectLst/>
              <a:uFillTx/>
              <a:latin typeface="Arial"/>
            </a:endParaRPr>
          </a:p>
        </p:txBody>
      </p:sp>
      <p:sp>
        <p:nvSpPr>
          <p:cNvPr id="110" name="Step text 1"/>
          <p:cNvSpPr/>
          <p:nvPr/>
        </p:nvSpPr>
        <p:spPr>
          <a:xfrm>
            <a:off x="1188720" y="1801440"/>
            <a:ext cx="4297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Sees only the assigned warehouse</a:t>
            </a:r>
            <a:endParaRPr lang="en-IN" sz="1400" b="0" u="none" strike="noStrike">
              <a:solidFill>
                <a:srgbClr val="000000"/>
              </a:solidFill>
              <a:effectLst/>
              <a:uFillTx/>
              <a:latin typeface="Arial"/>
            </a:endParaRPr>
          </a:p>
        </p:txBody>
      </p:sp>
      <p:sp>
        <p:nvSpPr>
          <p:cNvPr id="111" name="Step number 2"/>
          <p:cNvSpPr/>
          <p:nvPr/>
        </p:nvSpPr>
        <p:spPr>
          <a:xfrm>
            <a:off x="548640" y="230436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2</a:t>
            </a:r>
            <a:endParaRPr lang="en-IN" sz="1600" b="0" u="none" strike="noStrike">
              <a:solidFill>
                <a:srgbClr val="FFFFFF"/>
              </a:solidFill>
              <a:effectLst/>
              <a:uFillTx/>
              <a:latin typeface="Arial"/>
            </a:endParaRPr>
          </a:p>
        </p:txBody>
      </p:sp>
      <p:sp>
        <p:nvSpPr>
          <p:cNvPr id="112" name="Step title 2"/>
          <p:cNvSpPr/>
          <p:nvPr/>
        </p:nvSpPr>
        <p:spPr>
          <a:xfrm>
            <a:off x="1188720" y="2286000"/>
            <a:ext cx="4297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Stock &amp; Demand page</a:t>
            </a:r>
            <a:endParaRPr lang="en-IN" sz="1800" b="0" u="none" strike="noStrike">
              <a:solidFill>
                <a:srgbClr val="000000"/>
              </a:solidFill>
              <a:effectLst/>
              <a:uFillTx/>
              <a:latin typeface="Arial"/>
            </a:endParaRPr>
          </a:p>
        </p:txBody>
      </p:sp>
      <p:sp>
        <p:nvSpPr>
          <p:cNvPr id="113" name="Step text 2"/>
          <p:cNvSpPr/>
          <p:nvPr/>
        </p:nvSpPr>
        <p:spPr>
          <a:xfrm>
            <a:off x="1188720" y="2578680"/>
            <a:ext cx="4297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Stored stock and latest forecast per product</a:t>
            </a:r>
            <a:endParaRPr lang="en-IN" sz="1400" b="0" u="none" strike="noStrike">
              <a:solidFill>
                <a:srgbClr val="000000"/>
              </a:solidFill>
              <a:effectLst/>
              <a:uFillTx/>
              <a:latin typeface="Arial"/>
            </a:endParaRPr>
          </a:p>
        </p:txBody>
      </p:sp>
      <p:sp>
        <p:nvSpPr>
          <p:cNvPr id="114" name="Step number 3"/>
          <p:cNvSpPr/>
          <p:nvPr/>
        </p:nvSpPr>
        <p:spPr>
          <a:xfrm>
            <a:off x="4732920" y="149040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3</a:t>
            </a:r>
            <a:endParaRPr lang="en-IN" sz="1600" b="0" u="none" strike="noStrike">
              <a:solidFill>
                <a:srgbClr val="FFFFFF"/>
              </a:solidFill>
              <a:effectLst/>
              <a:uFillTx/>
              <a:latin typeface="Arial"/>
            </a:endParaRPr>
          </a:p>
        </p:txBody>
      </p:sp>
      <p:sp>
        <p:nvSpPr>
          <p:cNvPr id="115" name="Step title 3"/>
          <p:cNvSpPr/>
          <p:nvPr/>
        </p:nvSpPr>
        <p:spPr>
          <a:xfrm>
            <a:off x="5373000" y="1472040"/>
            <a:ext cx="4297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Recommendations page</a:t>
            </a:r>
            <a:endParaRPr lang="en-IN" sz="1800" b="0" u="none" strike="noStrike">
              <a:solidFill>
                <a:srgbClr val="000000"/>
              </a:solidFill>
              <a:effectLst/>
              <a:uFillTx/>
              <a:latin typeface="Arial"/>
            </a:endParaRPr>
          </a:p>
        </p:txBody>
      </p:sp>
      <p:sp>
        <p:nvSpPr>
          <p:cNvPr id="116" name="Step text 3"/>
          <p:cNvSpPr/>
          <p:nvPr/>
        </p:nvSpPr>
        <p:spPr>
          <a:xfrm>
            <a:off x="5373000" y="1764720"/>
            <a:ext cx="4297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Demand, safety stock, reorder qty, status</a:t>
            </a:r>
            <a:endParaRPr lang="en-IN" sz="1400" b="0" u="none" strike="noStrike">
              <a:solidFill>
                <a:srgbClr val="000000"/>
              </a:solidFill>
              <a:effectLst/>
              <a:uFillTx/>
              <a:latin typeface="Arial"/>
            </a:endParaRPr>
          </a:p>
        </p:txBody>
      </p:sp>
      <p:sp>
        <p:nvSpPr>
          <p:cNvPr id="117" name="Step number 4"/>
          <p:cNvSpPr/>
          <p:nvPr/>
        </p:nvSpPr>
        <p:spPr>
          <a:xfrm>
            <a:off x="4732920" y="2267640"/>
            <a:ext cx="456840" cy="456840"/>
          </a:xfrm>
          <a:prstGeom prst="ellipse">
            <a:avLst/>
          </a:prstGeom>
          <a:solidFill>
            <a:schemeClr val="accent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lt1"/>
                </a:solidFill>
                <a:effectLst/>
                <a:uFillTx/>
                <a:latin typeface="Calibri"/>
              </a:rPr>
              <a:t>4</a:t>
            </a:r>
            <a:endParaRPr lang="en-IN" sz="1600" b="0" u="none" strike="noStrike">
              <a:solidFill>
                <a:srgbClr val="FFFFFF"/>
              </a:solidFill>
              <a:effectLst/>
              <a:uFillTx/>
              <a:latin typeface="Arial"/>
            </a:endParaRPr>
          </a:p>
        </p:txBody>
      </p:sp>
      <p:sp>
        <p:nvSpPr>
          <p:cNvPr id="118" name="Step title 4"/>
          <p:cNvSpPr/>
          <p:nvPr/>
        </p:nvSpPr>
        <p:spPr>
          <a:xfrm>
            <a:off x="5373000" y="2249280"/>
            <a:ext cx="4297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Admin view</a:t>
            </a:r>
            <a:endParaRPr lang="en-IN" sz="1800" b="0" u="none" strike="noStrike">
              <a:solidFill>
                <a:srgbClr val="000000"/>
              </a:solidFill>
              <a:effectLst/>
              <a:uFillTx/>
              <a:latin typeface="Arial"/>
            </a:endParaRPr>
          </a:p>
        </p:txBody>
      </p:sp>
      <p:sp>
        <p:nvSpPr>
          <p:cNvPr id="119" name="Step text 4"/>
          <p:cNvSpPr/>
          <p:nvPr/>
        </p:nvSpPr>
        <p:spPr>
          <a:xfrm>
            <a:off x="5373000" y="2541960"/>
            <a:ext cx="42973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All warehouses and scheduler history</a:t>
            </a:r>
            <a:endParaRPr lang="en-IN" sz="1400" b="0" u="none" strike="noStrike">
              <a:solidFill>
                <a:srgbClr val="000000"/>
              </a:solidFill>
              <a:effectLst/>
              <a:uFillTx/>
              <a:latin typeface="Arial"/>
            </a:endParaRPr>
          </a:p>
        </p:txBody>
      </p:sp>
      <p:grpSp>
        <p:nvGrpSpPr>
          <p:cNvPr id="120" name="Group 20"/>
          <p:cNvGrpSpPr/>
          <p:nvPr/>
        </p:nvGrpSpPr>
        <p:grpSpPr>
          <a:xfrm>
            <a:off x="908280" y="3283560"/>
            <a:ext cx="6660720" cy="978120"/>
            <a:chOff x="908280" y="3283560"/>
            <a:chExt cx="6660720" cy="978120"/>
          </a:xfrm>
        </p:grpSpPr>
        <p:sp>
          <p:nvSpPr>
            <p:cNvPr id="121" name="Rectangle: Rounded Corners 19"/>
            <p:cNvSpPr/>
            <p:nvPr/>
          </p:nvSpPr>
          <p:spPr>
            <a:xfrm>
              <a:off x="908280" y="3283560"/>
              <a:ext cx="6660720" cy="978120"/>
            </a:xfrm>
            <a:prstGeom prst="roundRect">
              <a:avLst>
                <a:gd name="adj" fmla="val 16667"/>
              </a:avLst>
            </a:prstGeom>
            <a:solidFill>
              <a:schemeClr val="accent1">
                <a:lumMod val="20000"/>
                <a:lumOff val="80000"/>
              </a:schemeClr>
            </a:solidFill>
            <a:ln>
              <a:solidFill>
                <a:srgbClr val="0D1929"/>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en-IN" sz="1800" b="0" u="none" strike="noStrike">
                <a:solidFill>
                  <a:schemeClr val="lt1"/>
                </a:solidFill>
                <a:effectLst/>
                <a:uFillTx/>
                <a:latin typeface="Calibri"/>
              </a:endParaRPr>
            </a:p>
          </p:txBody>
        </p:sp>
        <p:sp>
          <p:nvSpPr>
            <p:cNvPr id="122" name="Checklist items"/>
            <p:cNvSpPr/>
            <p:nvPr/>
          </p:nvSpPr>
          <p:spPr>
            <a:xfrm>
              <a:off x="1487880" y="3603600"/>
              <a:ext cx="5252400" cy="4752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1F2937"/>
                </a:buClr>
                <a:buFont typeface="Symbol" charset="2"/>
                <a:buChar char=""/>
              </a:pPr>
              <a:r>
                <a:rPr lang="en-US" sz="1800" b="0" u="none" strike="noStrike">
                  <a:solidFill>
                    <a:schemeClr val="dk1"/>
                  </a:solidFill>
                  <a:effectLst/>
                  <a:uFillTx/>
                  <a:latin typeface="Calibri"/>
                </a:rPr>
                <a:t>Streamlit open at </a:t>
              </a:r>
              <a:r>
                <a:rPr lang="en-US" sz="1800" b="0" u="sng" strike="noStrike">
                  <a:solidFill>
                    <a:schemeClr val="dk1"/>
                  </a:solidFill>
                  <a:effectLst/>
                  <a:uFillTx/>
                  <a:latin typeface="Calibri"/>
                  <a:hlinkClick r:id="rId1"/>
                </a:rPr>
                <a:t>localhost:8501</a:t>
              </a:r>
              <a:endParaRPr lang="en-IN" sz="1800" b="0" u="none" strike="noStrike">
                <a:solidFill>
                  <a:srgbClr val="000000"/>
                </a:solidFill>
                <a:effectLst/>
                <a:uFillTx/>
                <a:latin typeface="Arial"/>
              </a:endParaRPr>
            </a:p>
          </p:txBody>
        </p:sp>
      </p:grpSp>
      <p:sp>
        <p:nvSpPr>
          <p:cNvPr id="123" name="PlaceHolder 2"/>
          <p:cNvSpPr>
            <a:spLocks noGrp="1"/>
          </p:cNvSpPr>
          <p:nvPr>
            <p:ph type="sldNum" idx="9"/>
          </p:nvPr>
        </p:nvSpPr>
        <p:spPr>
          <a:xfrm>
            <a:off x="8046720" y="4709160"/>
            <a:ext cx="548280" cy="273960"/>
          </a:xfrm>
          <a:prstGeom prst="rect">
            <a:avLst/>
          </a:prstGeom>
          <a:noFill/>
          <a:ln w="0">
            <a:noFill/>
          </a:ln>
        </p:spPr>
        <p:txBody>
          <a:bodyPr lIns="90000" tIns="45000" rIns="90000" bIns="45000" anchor="t">
            <a:noAutofit/>
          </a:bodyPr>
          <a:lstStyle>
            <a:lvl1pPr indent="0" algn="r" defTabSz="914400">
              <a:lnSpc>
                <a:spcPct val="100000"/>
              </a:lnSpc>
              <a:buNone/>
              <a:defRPr lang="en-US" sz="1200" b="0" u="none" strike="noStrike">
                <a:solidFill>
                  <a:srgbClr val="5F6B7A"/>
                </a:solidFill>
                <a:effectLst/>
                <a:uFillTx/>
                <a:latin typeface="Calibri"/>
              </a:defRPr>
            </a:lvl1pPr>
          </a:lstStyle>
          <a:p>
            <a:pPr indent="0" algn="r" defTabSz="914400">
              <a:lnSpc>
                <a:spcPct val="100000"/>
              </a:lnSpc>
              <a:buNone/>
            </a:pPr>
            <a:fld id="{C2FC35D9-4022-44B2-83CD-8C1220BB5557}" type="slidenum">
              <a:rPr lang="en-US" sz="1200" b="0" u="none" strike="noStrike">
                <a:solidFill>
                  <a:srgbClr val="5F6B7A"/>
                </a:solidFill>
                <a:effectLst/>
                <a:uFillTx/>
                <a:latin typeface="Calibri"/>
              </a:rPr>
              <a:t>&lt;number&gt;</a:t>
            </a:fld>
            <a:endParaRPr lang="en-IN" sz="1200" b="0" u="none" strike="noStrike">
              <a:solidFill>
                <a:srgbClr val="000000"/>
              </a:solidFill>
              <a:effectLst/>
              <a:uFillTx/>
              <a:latin typeface="Times New Roman"/>
            </a:endParaRPr>
          </a:p>
        </p:txBody>
      </p:sp>
    </p:spTree>
  </p:cSld>
  <p:transition spd="slow">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hasCustomPrompt="1"/>
          </p:nvPr>
        </p:nvSpPr>
        <p:spPr>
          <a:xfrm>
            <a:off x="548640" y="320040"/>
            <a:ext cx="8046360" cy="63972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200" b="1" u="none" strike="noStrike">
                <a:solidFill>
                  <a:schemeClr val="lt1"/>
                </a:solidFill>
                <a:effectLst/>
                <a:uFillTx/>
                <a:latin typeface="Cambria"/>
              </a:rPr>
              <a:t>Summary</a:t>
            </a:r>
            <a:endParaRPr lang="en-IN" sz="3200" b="0" u="none" strike="noStrike">
              <a:solidFill>
                <a:schemeClr val="dk1"/>
              </a:solidFill>
              <a:effectLst/>
              <a:uFillTx/>
              <a:latin typeface="Calibri"/>
            </a:endParaRPr>
          </a:p>
        </p:txBody>
      </p:sp>
      <p:sp>
        <p:nvSpPr>
          <p:cNvPr id="125" name="Summary card 1"/>
          <p:cNvSpPr/>
          <p:nvPr/>
        </p:nvSpPr>
        <p:spPr>
          <a:xfrm>
            <a:off x="548640" y="1371600"/>
            <a:ext cx="1828440" cy="1737000"/>
          </a:xfrm>
          <a:prstGeom prst="roundRect">
            <a:avLst>
              <a:gd name="adj" fmla="val 4211"/>
            </a:avLst>
          </a:prstGeom>
          <a:solidFill>
            <a:schemeClr val="lt1">
              <a:alpha val="12000"/>
            </a:schemeClr>
          </a:solidFill>
          <a:ln w="12700">
            <a:solidFill>
              <a:schemeClr val="lt1">
                <a:alpha val="30000"/>
              </a:schemeClr>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126" name="Summary word 1"/>
          <p:cNvSpPr/>
          <p:nvPr/>
        </p:nvSpPr>
        <p:spPr>
          <a:xfrm>
            <a:off x="685800" y="1508760"/>
            <a:ext cx="15541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lt1"/>
                </a:solidFill>
                <a:effectLst/>
                <a:uFillTx/>
                <a:latin typeface="Calibri"/>
              </a:rPr>
              <a:t>Structured</a:t>
            </a:r>
            <a:endParaRPr lang="en-IN" sz="2000" b="0" u="none" strike="noStrike">
              <a:solidFill>
                <a:srgbClr val="000000"/>
              </a:solidFill>
              <a:effectLst/>
              <a:uFillTx/>
              <a:latin typeface="Arial"/>
            </a:endParaRPr>
          </a:p>
        </p:txBody>
      </p:sp>
      <p:sp>
        <p:nvSpPr>
          <p:cNvPr id="127" name="Summary text 1"/>
          <p:cNvSpPr/>
          <p:nvPr/>
        </p:nvSpPr>
        <p:spPr>
          <a:xfrm>
            <a:off x="685800" y="1965960"/>
            <a:ext cx="15541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alibri"/>
              </a:rPr>
              <a:t>Normalized tables with keys and constraints</a:t>
            </a:r>
            <a:endParaRPr lang="en-IN" sz="1400" b="0" u="none" strike="noStrike">
              <a:solidFill>
                <a:srgbClr val="000000"/>
              </a:solidFill>
              <a:effectLst/>
              <a:uFillTx/>
              <a:latin typeface="Arial"/>
            </a:endParaRPr>
          </a:p>
        </p:txBody>
      </p:sp>
      <p:sp>
        <p:nvSpPr>
          <p:cNvPr id="128" name="Summary card 2"/>
          <p:cNvSpPr/>
          <p:nvPr/>
        </p:nvSpPr>
        <p:spPr>
          <a:xfrm>
            <a:off x="2651760" y="1371600"/>
            <a:ext cx="1828440" cy="1737000"/>
          </a:xfrm>
          <a:prstGeom prst="roundRect">
            <a:avLst>
              <a:gd name="adj" fmla="val 4211"/>
            </a:avLst>
          </a:prstGeom>
          <a:solidFill>
            <a:schemeClr val="lt1">
              <a:alpha val="12000"/>
            </a:schemeClr>
          </a:solidFill>
          <a:ln w="12700">
            <a:solidFill>
              <a:schemeClr val="lt1">
                <a:alpha val="30000"/>
              </a:schemeClr>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129" name="Summary word 2"/>
          <p:cNvSpPr/>
          <p:nvPr/>
        </p:nvSpPr>
        <p:spPr>
          <a:xfrm>
            <a:off x="2788920" y="1508760"/>
            <a:ext cx="15541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lt1"/>
                </a:solidFill>
                <a:effectLst/>
                <a:uFillTx/>
                <a:latin typeface="Calibri"/>
              </a:rPr>
              <a:t>Secure</a:t>
            </a:r>
            <a:endParaRPr lang="en-IN" sz="2000" b="0" u="none" strike="noStrike">
              <a:solidFill>
                <a:srgbClr val="000000"/>
              </a:solidFill>
              <a:effectLst/>
              <a:uFillTx/>
              <a:latin typeface="Arial"/>
            </a:endParaRPr>
          </a:p>
        </p:txBody>
      </p:sp>
      <p:sp>
        <p:nvSpPr>
          <p:cNvPr id="130" name="Summary text 2"/>
          <p:cNvSpPr/>
          <p:nvPr/>
        </p:nvSpPr>
        <p:spPr>
          <a:xfrm>
            <a:off x="2788920" y="1965960"/>
            <a:ext cx="15541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alibri"/>
              </a:rPr>
              <a:t>Login with bcrypt + JWT, warehouse-level access</a:t>
            </a:r>
            <a:endParaRPr lang="en-IN" sz="1400" b="0" u="none" strike="noStrike">
              <a:solidFill>
                <a:srgbClr val="000000"/>
              </a:solidFill>
              <a:effectLst/>
              <a:uFillTx/>
              <a:latin typeface="Arial"/>
            </a:endParaRPr>
          </a:p>
        </p:txBody>
      </p:sp>
      <p:sp>
        <p:nvSpPr>
          <p:cNvPr id="131" name="Summary card 3"/>
          <p:cNvSpPr/>
          <p:nvPr/>
        </p:nvSpPr>
        <p:spPr>
          <a:xfrm>
            <a:off x="4754880" y="1371600"/>
            <a:ext cx="1828440" cy="1737000"/>
          </a:xfrm>
          <a:prstGeom prst="roundRect">
            <a:avLst>
              <a:gd name="adj" fmla="val 4211"/>
            </a:avLst>
          </a:prstGeom>
          <a:solidFill>
            <a:schemeClr val="lt1">
              <a:alpha val="12000"/>
            </a:schemeClr>
          </a:solidFill>
          <a:ln w="12700">
            <a:solidFill>
              <a:schemeClr val="lt1">
                <a:alpha val="30000"/>
              </a:schemeClr>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132" name="Summary word 3"/>
          <p:cNvSpPr/>
          <p:nvPr/>
        </p:nvSpPr>
        <p:spPr>
          <a:xfrm>
            <a:off x="4892040" y="1508760"/>
            <a:ext cx="15541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lt1"/>
                </a:solidFill>
                <a:effectLst/>
                <a:uFillTx/>
                <a:latin typeface="Calibri"/>
              </a:rPr>
              <a:t>Predictive</a:t>
            </a:r>
            <a:endParaRPr lang="en-IN" sz="2000" b="0" u="none" strike="noStrike">
              <a:solidFill>
                <a:srgbClr val="000000"/>
              </a:solidFill>
              <a:effectLst/>
              <a:uFillTx/>
              <a:latin typeface="Arial"/>
            </a:endParaRPr>
          </a:p>
        </p:txBody>
      </p:sp>
      <p:sp>
        <p:nvSpPr>
          <p:cNvPr id="133" name="Summary text 3"/>
          <p:cNvSpPr/>
          <p:nvPr/>
        </p:nvSpPr>
        <p:spPr>
          <a:xfrm>
            <a:off x="4892040" y="1965960"/>
            <a:ext cx="15541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alibri"/>
              </a:rPr>
              <a:t>Weekly demand forecasts and reorder advice</a:t>
            </a:r>
            <a:endParaRPr lang="en-IN" sz="1400" b="0" u="none" strike="noStrike">
              <a:solidFill>
                <a:srgbClr val="000000"/>
              </a:solidFill>
              <a:effectLst/>
              <a:uFillTx/>
              <a:latin typeface="Arial"/>
            </a:endParaRPr>
          </a:p>
        </p:txBody>
      </p:sp>
      <p:sp>
        <p:nvSpPr>
          <p:cNvPr id="134" name="Summary card 4"/>
          <p:cNvSpPr/>
          <p:nvPr/>
        </p:nvSpPr>
        <p:spPr>
          <a:xfrm>
            <a:off x="6858000" y="1371600"/>
            <a:ext cx="1828440" cy="1737000"/>
          </a:xfrm>
          <a:prstGeom prst="roundRect">
            <a:avLst>
              <a:gd name="adj" fmla="val 4211"/>
            </a:avLst>
          </a:prstGeom>
          <a:solidFill>
            <a:schemeClr val="lt1">
              <a:alpha val="12000"/>
            </a:schemeClr>
          </a:solidFill>
          <a:ln w="12700">
            <a:solidFill>
              <a:schemeClr val="lt1">
                <a:alpha val="30000"/>
              </a:schemeClr>
            </a:solidFill>
            <a:round/>
          </a:ln>
        </p:spPr>
        <p:style>
          <a:lnRef idx="0"/>
          <a:fillRef idx="0"/>
          <a:effectRef idx="0"/>
          <a:fontRef idx="minor"/>
        </p:style>
        <p:txBody>
          <a:bodyPr lIns="90000" tIns="45000" rIns="90000" bIns="45000" anchor="t">
            <a:noAutofit/>
          </a:bodyPr>
          <a:p>
            <a:pPr/>
            <a:endParaRPr lang="en-IN" sz="1800" b="0" u="none" strike="noStrike">
              <a:solidFill>
                <a:schemeClr val="dk1"/>
              </a:solidFill>
              <a:effectLst/>
              <a:uFillTx/>
              <a:latin typeface="Calibri"/>
            </a:endParaRPr>
          </a:p>
        </p:txBody>
      </p:sp>
      <p:sp>
        <p:nvSpPr>
          <p:cNvPr id="135" name="Summary word 4"/>
          <p:cNvSpPr/>
          <p:nvPr/>
        </p:nvSpPr>
        <p:spPr>
          <a:xfrm>
            <a:off x="6995160" y="1508760"/>
            <a:ext cx="15541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chemeClr val="lt1"/>
                </a:solidFill>
                <a:effectLst/>
                <a:uFillTx/>
                <a:latin typeface="Calibri"/>
              </a:rPr>
              <a:t>Visible</a:t>
            </a:r>
            <a:endParaRPr lang="en-IN" sz="2000" b="0" u="none" strike="noStrike">
              <a:solidFill>
                <a:srgbClr val="000000"/>
              </a:solidFill>
              <a:effectLst/>
              <a:uFillTx/>
              <a:latin typeface="Arial"/>
            </a:endParaRPr>
          </a:p>
        </p:txBody>
      </p:sp>
      <p:sp>
        <p:nvSpPr>
          <p:cNvPr id="136" name="Summary text 4"/>
          <p:cNvSpPr/>
          <p:nvPr/>
        </p:nvSpPr>
        <p:spPr>
          <a:xfrm>
            <a:off x="6995160" y="1965960"/>
            <a:ext cx="15541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alibri"/>
              </a:rPr>
              <a:t>Dashboard pages instead of raw SQL</a:t>
            </a:r>
            <a:endParaRPr lang="en-IN" sz="1400" b="0" u="none" strike="noStrike">
              <a:solidFill>
                <a:srgbClr val="000000"/>
              </a:solidFill>
              <a:effectLst/>
              <a:uFillTx/>
              <a:latin typeface="Arial"/>
            </a:endParaRPr>
          </a:p>
        </p:txBody>
      </p:sp>
      <p:sp>
        <p:nvSpPr>
          <p:cNvPr id="137" name="Limitation"/>
          <p:cNvSpPr/>
          <p:nvPr/>
        </p:nvSpPr>
        <p:spPr>
          <a:xfrm>
            <a:off x="548640" y="3383280"/>
            <a:ext cx="804636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alibri"/>
              </a:rPr>
              <a:t>Limitation: stock is a historical average, not live inventory. This is an academic prototype.</a:t>
            </a:r>
            <a:endParaRPr lang="en-IN" sz="1400" b="0" u="none" strike="noStrike">
              <a:solidFill>
                <a:srgbClr val="000000"/>
              </a:solidFill>
              <a:effectLst/>
              <a:uFillTx/>
              <a:latin typeface="Arial"/>
            </a:endParaRPr>
          </a:p>
        </p:txBody>
      </p:sp>
      <p:sp>
        <p:nvSpPr>
          <p:cNvPr id="138" name="Closing line"/>
          <p:cNvSpPr/>
          <p:nvPr/>
        </p:nvSpPr>
        <p:spPr>
          <a:xfrm>
            <a:off x="548640" y="3931920"/>
            <a:ext cx="804636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400" b="1" u="none" strike="noStrike">
                <a:solidFill>
                  <a:schemeClr val="lt1"/>
                </a:solidFill>
                <a:effectLst/>
                <a:uFillTx/>
                <a:latin typeface="Calibri"/>
              </a:rPr>
              <a:t>Thank you  ·  Questions?</a:t>
            </a:r>
            <a:endParaRPr lang="en-IN" sz="2400" b="0" u="none" strike="noStrike">
              <a:solidFill>
                <a:srgbClr val="000000"/>
              </a:solidFill>
              <a:effectLst/>
              <a:uFillTx/>
              <a:latin typeface="Arial"/>
            </a:endParaRPr>
          </a:p>
        </p:txBody>
      </p:sp>
    </p:spTree>
  </p:cSld>
  <p:transition spd="slow">
    <p:fade/>
  </p:transition>
</p:sld>
</file>

<file path=ppt/theme/theme1.xml><?xml version="1.0" encoding="utf-8"?>
<a:theme xmlns:a="http://schemas.openxmlformats.org/drawingml/2006/main" xmlns:r="http://schemas.openxmlformats.org/officeDocument/2006/relationships" name="Class Project">
  <a:themeElements>
    <a:clrScheme name="Class Project">
      <a:dk1>
        <a:srgbClr val="1F2937"/>
      </a:dk1>
      <a:lt1>
        <a:srgbClr val="FFFFFF"/>
      </a:lt1>
      <a:dk2>
        <a:srgbClr val="1F3A5F"/>
      </a:dk2>
      <a:lt2>
        <a:srgbClr val="EEF3F8"/>
      </a:lt2>
      <a:accent1>
        <a:srgbClr val="1F3A5F"/>
      </a:accent1>
      <a:accent2>
        <a:srgbClr val="1F7A70"/>
      </a:accent2>
      <a:accent3>
        <a:srgbClr val="D98E1F"/>
      </a:accent3>
      <a:accent4>
        <a:srgbClr val="5B7DB1"/>
      </a:accent4>
      <a:accent5>
        <a:srgbClr val="5F6B7A"/>
      </a:accent5>
      <a:accent6>
        <a:srgbClr val="B8472F"/>
      </a:accent6>
      <a:hlink>
        <a:srgbClr val="1F7A70"/>
      </a:hlink>
      <a:folHlink>
        <a:srgbClr val="5F6B7A"/>
      </a:folHlink>
    </a:clrScheme>
    <a:fontScheme name="Class Project">
      <a:majorFont>
        <a:latin typeface="Cambria"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63</TotalTime>
  <Application>LibreOffice/26.8.1.1$Linux_X86_64 LibreOffice_project/bf8adb135da2784a1be3ca33001278b7a20af5c1</Application>
  <AppVersion>15.0000</AppVersion>
  <Words>835</Words>
  <Paragraphs>132</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2026-10-29T19:43:42Z</dcterms:created>
  <dc:creator>PptxGenJS</dc:creator>
  <dc:description/>
  <dc:language>en-IN</dc:language>
  <cp:lastModifiedBy/>
  <dcterms:modified xsi:type="dcterms:W3CDTF">2026-10-30T02:25:06Z</dcterms:modified>
  <cp:revision>4</cp:revision>
  <dc:subject>PptxGenJS Presentation</dc:subject>
  <dc:title>E-commerce Database Management &amp; Inventory Optimization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